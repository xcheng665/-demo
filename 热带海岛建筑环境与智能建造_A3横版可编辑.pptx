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5119350" cy="106914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6" userDrawn="1">
          <p15:clr>
            <a:srgbClr val="A4A3A4"/>
          </p15:clr>
        </p15:guide>
        <p15:guide id="2" pos="2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076"/>
        <p:guide pos="28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Rounded Rectangle 18"/>
          <p:cNvSpPr/>
          <p:nvPr/>
        </p:nvSpPr>
        <p:spPr>
          <a:xfrm>
            <a:off x="11384280" y="1609344"/>
            <a:ext cx="3511296" cy="6839712"/>
          </a:xfrm>
          <a:prstGeom prst="roundRect">
            <a:avLst/>
          </a:prstGeom>
          <a:solidFill>
            <a:srgbClr val="FFFFFF"/>
          </a:solidFill>
          <a:ln w="9906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246120" y="109728"/>
            <a:ext cx="86410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1F1F1F"/>
                </a:solidFill>
                <a:latin typeface="微软雅黑" panose="020B0503020204020204" charset="-122"/>
              </a:rPr>
              <a:t>热带海岛建筑环境与智能建造</a:t>
            </a:r>
            <a:endParaRPr sz="23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26080" y="603504"/>
            <a:ext cx="9281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40" b="0">
                <a:solidFill>
                  <a:srgbClr val="1F1F1F"/>
                </a:solidFill>
                <a:latin typeface="微软雅黑" panose="020B0503020204020204" charset="-122"/>
              </a:rPr>
              <a:t>个人科研实践框架  /  Personal Research Practice Framework</a:t>
            </a:r>
            <a:endParaRPr sz="104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7400" y="889318"/>
            <a:ext cx="11367135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微软雅黑" panose="020B0503020204020204" charset="-122"/>
              </a:rPr>
              <a:t>聚焦热带海岛建筑的可持续性与韧性提升，从低碳材料、建筑知识建模到灾后智能决策，形成“材料—信息—管理—实践”的递进式科研路径。</a:t>
            </a:r>
            <a:endParaRPr sz="1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47104" y="1216152"/>
            <a:ext cx="2029968" cy="310896"/>
          </a:xfrm>
          <a:prstGeom prst="roundRect">
            <a:avLst/>
          </a:prstGeom>
          <a:solidFill>
            <a:srgbClr val="FFF3F5"/>
          </a:solidFill>
          <a:ln w="8890">
            <a:solidFill>
              <a:srgbClr val="F3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263968"/>
            <a:ext cx="1901952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微软雅黑" panose="020B0503020204020204" charset="-122"/>
              </a:rPr>
              <a:t>个人科研实践</a:t>
            </a:r>
            <a:endParaRPr sz="1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4592" y="1609344"/>
            <a:ext cx="3511296" cy="6839712"/>
          </a:xfrm>
          <a:prstGeom prst="roundRect">
            <a:avLst/>
          </a:prstGeom>
          <a:solidFill>
            <a:srgbClr val="FFFFFF"/>
          </a:solidFill>
          <a:ln w="9906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734884"/>
            <a:ext cx="3291839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微软雅黑" panose="020B0503020204020204" charset="-122"/>
              </a:rPr>
              <a:t>研究背景与问题定位</a:t>
            </a:r>
            <a:endParaRPr sz="1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1975993"/>
            <a:ext cx="329183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Background &amp; Research Focus</a:t>
            </a:r>
            <a:endParaRPr sz="1000" b="0">
              <a:solidFill>
                <a:srgbClr val="1F1F1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56032" y="2212848"/>
            <a:ext cx="3328415" cy="0"/>
          </a:xfrm>
          <a:prstGeom prst="line">
            <a:avLst/>
          </a:prstGeom>
          <a:ln w="952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04487" y="1609344"/>
            <a:ext cx="3511296" cy="6839712"/>
          </a:xfrm>
          <a:prstGeom prst="roundRect">
            <a:avLst/>
          </a:prstGeom>
          <a:solidFill>
            <a:srgbClr val="FFFFFF"/>
          </a:solidFill>
          <a:ln w="9906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14215" y="1734884"/>
            <a:ext cx="3291839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400" b="1">
                <a:solidFill>
                  <a:srgbClr val="1F1F1F"/>
                </a:solidFill>
                <a:latin typeface="微软雅黑" panose="020B0503020204020204" charset="-122"/>
              </a:rPr>
              <a:t>材料层：绿色材料与建筑性能</a:t>
            </a:r>
            <a:endParaRPr sz="1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14215" y="1975993"/>
            <a:ext cx="329183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Materials Layer</a:t>
            </a:r>
            <a:endParaRPr sz="1000" b="0">
              <a:solidFill>
                <a:srgbClr val="1F1F1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3995927" y="2212848"/>
            <a:ext cx="3328417" cy="0"/>
          </a:xfrm>
          <a:prstGeom prst="line">
            <a:avLst/>
          </a:prstGeom>
          <a:ln w="952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44383" y="1609344"/>
            <a:ext cx="3511296" cy="6839712"/>
          </a:xfrm>
          <a:prstGeom prst="roundRect">
            <a:avLst/>
          </a:prstGeom>
          <a:solidFill>
            <a:srgbClr val="FFFFFF"/>
          </a:solidFill>
          <a:ln w="9906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1" y="1734884"/>
            <a:ext cx="3291839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400" b="1">
                <a:solidFill>
                  <a:srgbClr val="1F1F1F"/>
                </a:solidFill>
                <a:latin typeface="微软雅黑" panose="020B0503020204020204" charset="-122"/>
              </a:rPr>
              <a:t>信息层：建筑知识建模与智能检索</a:t>
            </a:r>
            <a:endParaRPr sz="1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54111" y="1975993"/>
            <a:ext cx="329183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Information Layer</a:t>
            </a:r>
            <a:endParaRPr sz="1000" b="0">
              <a:solidFill>
                <a:srgbClr val="1F1F1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7735823" y="2212848"/>
            <a:ext cx="3328417" cy="0"/>
          </a:xfrm>
          <a:prstGeom prst="line">
            <a:avLst/>
          </a:prstGeom>
          <a:ln w="952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494007" y="1734884"/>
            <a:ext cx="3291839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400" b="1">
                <a:solidFill>
                  <a:srgbClr val="1F1F1F"/>
                </a:solidFill>
                <a:latin typeface="微软雅黑" panose="020B0503020204020204" charset="-122"/>
              </a:rPr>
              <a:t>管理层：灾后恢复与多智能体决策</a:t>
            </a:r>
            <a:endParaRPr sz="14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94007" y="1975993"/>
            <a:ext cx="329183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Management Layer</a:t>
            </a:r>
            <a:endParaRPr sz="1000" b="0">
              <a:solidFill>
                <a:srgbClr val="1F1F1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1475719" y="2212848"/>
            <a:ext cx="3328416" cy="0"/>
          </a:xfrm>
          <a:prstGeom prst="line">
            <a:avLst/>
          </a:prstGeom>
          <a:ln w="952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56032" y="2377440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523744" y="2377440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53312" y="2276221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现实问题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10896" y="2660904"/>
            <a:ext cx="566928" cy="1243584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2668460"/>
            <a:ext cx="566928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>
                <a:solidFill>
                  <a:srgbClr val="1F1F1F"/>
                </a:solidFill>
                <a:latin typeface="Segoe UI Symbol" panose="020B0502040204020203"/>
              </a:rPr>
              <a:t>♨</a:t>
            </a:r>
            <a:endParaRPr sz="24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8912" y="3107627"/>
            <a:ext cx="310896" cy="6153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高
温
高
湿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96695" y="2660904"/>
            <a:ext cx="566928" cy="1243584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440" y="2600833"/>
            <a:ext cx="566928" cy="55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0">
                <a:solidFill>
                  <a:srgbClr val="1F1F1F"/>
                </a:solidFill>
                <a:latin typeface="Segoe UI Symbol" panose="020B0502040204020203"/>
              </a:rPr>
              <a:t>◔</a:t>
            </a:r>
            <a:endParaRPr sz="36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24712" y="3107627"/>
            <a:ext cx="310896" cy="6153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台
风
频
发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682495" y="2660904"/>
            <a:ext cx="566928" cy="1243584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68170" y="2600960"/>
            <a:ext cx="421005" cy="55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0">
                <a:solidFill>
                  <a:srgbClr val="1F1F1F"/>
                </a:solidFill>
                <a:latin typeface="Segoe UI Symbol" panose="020B0502040204020203"/>
              </a:rPr>
              <a:t>♧</a:t>
            </a:r>
            <a:endParaRPr sz="36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10512" y="3107627"/>
            <a:ext cx="310896" cy="6153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资
源
约
束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368296" y="2660904"/>
            <a:ext cx="566928" cy="1243584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6185" y="2624455"/>
            <a:ext cx="565150" cy="558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600" b="0">
                <a:solidFill>
                  <a:srgbClr val="1F1F1F"/>
                </a:solidFill>
                <a:latin typeface="Segoe UI Symbol" panose="020B0502040204020203"/>
              </a:rPr>
              <a:t>▥</a:t>
            </a:r>
            <a:endParaRPr sz="14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96312" y="3107627"/>
            <a:ext cx="310896" cy="6153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能
耗
偏
高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054096" y="2660904"/>
            <a:ext cx="566928" cy="1243584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2637663"/>
            <a:ext cx="566928" cy="430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>
                <a:solidFill>
                  <a:srgbClr val="1F1F1F"/>
                </a:solidFill>
                <a:latin typeface="Segoe UI Symbol" panose="020B0502040204020203"/>
              </a:rPr>
              <a:t>⌘</a:t>
            </a:r>
            <a:endParaRPr sz="28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82112" y="3107627"/>
            <a:ext cx="310896" cy="6153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信
息
分
散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96011" y="2532888"/>
            <a:ext cx="2741295" cy="0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4359" y="2532888"/>
            <a:ext cx="0" cy="91440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80160" y="2532888"/>
            <a:ext cx="0" cy="91440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965960" y="2532888"/>
            <a:ext cx="0" cy="91440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651760" y="2532888"/>
            <a:ext cx="0" cy="91440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337560" y="2532888"/>
            <a:ext cx="0" cy="91440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39496" y="4014215"/>
            <a:ext cx="0" cy="91441"/>
          </a:xfrm>
          <a:prstGeom prst="line">
            <a:avLst/>
          </a:prstGeom>
          <a:ln w="8255">
            <a:solidFill>
              <a:srgbClr val="B6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39496" y="4105656"/>
            <a:ext cx="2848610" cy="0"/>
          </a:xfrm>
          <a:prstGeom prst="line">
            <a:avLst/>
          </a:prstGeom>
          <a:ln w="8255">
            <a:solidFill>
              <a:srgbClr val="B6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56032" y="4297680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523744" y="4297680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353312" y="4196461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核心研究问题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29768" y="4526280"/>
            <a:ext cx="2980944" cy="512064"/>
          </a:xfrm>
          <a:prstGeom prst="roundRect">
            <a:avLst/>
          </a:prstGeom>
          <a:solidFill>
            <a:srgbClr val="FFF3F5"/>
          </a:solidFill>
          <a:ln w="8890">
            <a:solidFill>
              <a:srgbClr val="F3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3776" y="4597845"/>
            <a:ext cx="2852927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如何通过材料、信息与智能管理
提升热带海岛建筑的可持续性与韧性？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256032" y="5340096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523744" y="5340096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53312" y="5238877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研究定位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1234439" y="5504688"/>
            <a:ext cx="1371600" cy="283464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71016" y="5569584"/>
            <a:ext cx="129844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热带海岛建筑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1920240" y="5788152"/>
            <a:ext cx="0" cy="164592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10800000">
            <a:off x="1856232" y="5888736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74320" y="6016752"/>
            <a:ext cx="987552" cy="283464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0896" y="6081649"/>
            <a:ext cx="914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绿色低碳材料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371600" y="6016752"/>
            <a:ext cx="987552" cy="283464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08176" y="6081649"/>
            <a:ext cx="914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建筑知识数字化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2468879" y="6016752"/>
            <a:ext cx="987552" cy="283464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05456" y="6081649"/>
            <a:ext cx="9144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灾后智能管理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740664" y="5952744"/>
            <a:ext cx="2350008" cy="0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40664" y="5952744"/>
            <a:ext cx="0" cy="54864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920240" y="5952744"/>
            <a:ext cx="0" cy="54864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090672" y="5952744"/>
            <a:ext cx="0" cy="54864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40664" y="6318504"/>
            <a:ext cx="2350008" cy="0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920240" y="6318504"/>
            <a:ext cx="0" cy="118872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1033271" y="6446520"/>
            <a:ext cx="1828800" cy="292608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9848" y="6515988"/>
            <a:ext cx="175564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可持续与韧性提升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256032" y="7022592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523744" y="7022592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353312" y="6921373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研究方法导向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38328" y="7214616"/>
            <a:ext cx="658368" cy="6766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8328" y="7324344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  <a:latin typeface="Segoe UI Symbol" panose="020B0502040204020203"/>
              </a:rPr>
              <a:t>≋</a:t>
            </a:r>
            <a:endParaRPr sz="14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93192" y="7658988"/>
            <a:ext cx="54864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建筑环境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1152144" y="7214616"/>
            <a:ext cx="658368" cy="6766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52144" y="7324344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  <a:latin typeface="Segoe UI Symbol" panose="020B0502040204020203"/>
              </a:rPr>
              <a:t>♜</a:t>
            </a:r>
            <a:endParaRPr sz="14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207008" y="7658988"/>
            <a:ext cx="54864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实验数据</a:t>
            </a:r>
            <a:endParaRPr sz="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1965960" y="7214616"/>
            <a:ext cx="658368" cy="6766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965960" y="7324344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  <a:latin typeface="Segoe UI Symbol" panose="020B0502040204020203"/>
              </a:rPr>
              <a:t>⌘</a:t>
            </a:r>
            <a:endParaRPr sz="14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020824" y="7658988"/>
            <a:ext cx="54864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知识建模</a:t>
            </a:r>
            <a:endParaRPr sz="6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2779776" y="7214616"/>
            <a:ext cx="658368" cy="6766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79776" y="7324344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  <a:latin typeface="Segoe UI Symbol" panose="020B0502040204020203"/>
              </a:rPr>
              <a:t>◉</a:t>
            </a:r>
            <a:endParaRPr sz="14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834640" y="7658988"/>
            <a:ext cx="54864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智能决策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4032503" y="2167128"/>
            <a:ext cx="3255263" cy="475488"/>
          </a:xfrm>
          <a:prstGeom prst="roundRect">
            <a:avLst/>
          </a:prstGeom>
          <a:solidFill>
            <a:srgbClr val="FFF3F5"/>
          </a:solidFill>
          <a:ln w="8890">
            <a:solidFill>
              <a:srgbClr val="F3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96511" y="2220405"/>
            <a:ext cx="3127247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省级大创项目：椰壳废弃物应用于建筑
围护结构对建筑能耗的影响研究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93" name="Connector 92"/>
          <p:cNvCxnSpPr/>
          <p:nvPr/>
        </p:nvCxnSpPr>
        <p:spPr>
          <a:xfrm>
            <a:off x="3995927" y="2898648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263639" y="2898648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093207" y="2797429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研究流程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4608575" y="3017520"/>
            <a:ext cx="2084831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45151" y="3054985"/>
            <a:ext cx="201167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椰壳废弃物收集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98" name="Connector 97"/>
          <p:cNvCxnSpPr/>
          <p:nvPr/>
        </p:nvCxnSpPr>
        <p:spPr>
          <a:xfrm>
            <a:off x="5650992" y="3246120"/>
            <a:ext cx="0" cy="82296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4608575" y="3364991"/>
            <a:ext cx="2084831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45151" y="3402456"/>
            <a:ext cx="201167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纤维处理与配比设计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02" name="Connector 101"/>
          <p:cNvCxnSpPr/>
          <p:nvPr/>
        </p:nvCxnSpPr>
        <p:spPr>
          <a:xfrm>
            <a:off x="5650992" y="3593591"/>
            <a:ext cx="0" cy="82297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4608575" y="3730878"/>
            <a:ext cx="2084831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45151" y="3768343"/>
            <a:ext cx="201167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试块制备与养护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06" name="Connector 105"/>
          <p:cNvCxnSpPr/>
          <p:nvPr/>
        </p:nvCxnSpPr>
        <p:spPr>
          <a:xfrm>
            <a:off x="5650992" y="3941063"/>
            <a:ext cx="0" cy="82297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4608575" y="4087240"/>
            <a:ext cx="2084831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645151" y="4124705"/>
            <a:ext cx="201167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力学性能测试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5650992" y="4303776"/>
            <a:ext cx="0" cy="6731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4608575" y="4452493"/>
            <a:ext cx="2084831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45151" y="4489958"/>
            <a:ext cx="201167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围护结构热工分析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14" name="Connector 113"/>
          <p:cNvCxnSpPr/>
          <p:nvPr/>
        </p:nvCxnSpPr>
        <p:spPr>
          <a:xfrm>
            <a:off x="5650992" y="4677283"/>
            <a:ext cx="0" cy="55245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4608575" y="4855209"/>
            <a:ext cx="2084831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645151" y="4892674"/>
            <a:ext cx="201167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建筑能耗影响评估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18" name="Connector 117"/>
          <p:cNvCxnSpPr/>
          <p:nvPr/>
        </p:nvCxnSpPr>
        <p:spPr>
          <a:xfrm>
            <a:off x="3995927" y="5239512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263639" y="5239512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5093207" y="5138293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关键内容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4050791" y="5449824"/>
            <a:ext cx="941832" cy="256032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087368" y="5501005"/>
            <a:ext cx="8686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材料制备</a:t>
            </a:r>
            <a:endParaRPr sz="61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5212334" y="5450459"/>
            <a:ext cx="941832" cy="256032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230495" y="5501005"/>
            <a:ext cx="8686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力学测试</a:t>
            </a:r>
            <a:endParaRPr sz="61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6382639" y="5449824"/>
            <a:ext cx="941832" cy="256032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09690" y="5513705"/>
            <a:ext cx="8686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热工/能耗分析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4014215" y="5824728"/>
            <a:ext cx="1014984" cy="8503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8D8D8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096511" y="6000814"/>
            <a:ext cx="850392" cy="461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椰壳纤维
混凝土配合比
资源化利用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5212080" y="5819140"/>
            <a:ext cx="941705" cy="85026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8D8D8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249164" y="5909374"/>
            <a:ext cx="850392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抗压
抗折
剪裂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31" name="Rounded Rectangle 130"/>
          <p:cNvSpPr/>
          <p:nvPr/>
        </p:nvSpPr>
        <p:spPr>
          <a:xfrm>
            <a:off x="6365240" y="5824855"/>
            <a:ext cx="941070" cy="85026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8D8D8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09943" y="6000814"/>
            <a:ext cx="850392" cy="461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传热性能
围护结构
节能效益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33" name="Connector 132"/>
          <p:cNvCxnSpPr/>
          <p:nvPr/>
        </p:nvCxnSpPr>
        <p:spPr>
          <a:xfrm>
            <a:off x="3995927" y="7013448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263639" y="7013448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093207" y="6912229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阶段成果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4041648" y="7214616"/>
            <a:ext cx="969264" cy="429768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078224" y="7352664"/>
            <a:ext cx="896112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实验数据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38" name="Connector 137"/>
          <p:cNvCxnSpPr/>
          <p:nvPr/>
        </p:nvCxnSpPr>
        <p:spPr>
          <a:xfrm>
            <a:off x="5020055" y="7424927"/>
            <a:ext cx="192024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sosceles Triangle 138"/>
          <p:cNvSpPr/>
          <p:nvPr/>
        </p:nvSpPr>
        <p:spPr>
          <a:xfrm rot="5400000">
            <a:off x="5148071" y="7360919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5266944" y="7214616"/>
            <a:ext cx="969264" cy="429768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303520" y="7352664"/>
            <a:ext cx="896112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性能认识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42" name="Connector 141"/>
          <p:cNvCxnSpPr/>
          <p:nvPr/>
        </p:nvCxnSpPr>
        <p:spPr>
          <a:xfrm>
            <a:off x="6245351" y="7424927"/>
            <a:ext cx="192024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sosceles Triangle 142"/>
          <p:cNvSpPr/>
          <p:nvPr/>
        </p:nvSpPr>
        <p:spPr>
          <a:xfrm rot="5400000">
            <a:off x="6373367" y="7360919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492240" y="7214870"/>
            <a:ext cx="840740" cy="429895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529070" y="7275830"/>
            <a:ext cx="789305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绿色材料应用基础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46" name="Connector 145"/>
          <p:cNvCxnSpPr/>
          <p:nvPr/>
        </p:nvCxnSpPr>
        <p:spPr>
          <a:xfrm>
            <a:off x="3995927" y="8065008"/>
            <a:ext cx="3328417" cy="0"/>
          </a:xfrm>
          <a:prstGeom prst="line">
            <a:avLst/>
          </a:prstGeom>
          <a:ln w="952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4041648" y="8152765"/>
            <a:ext cx="3236976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关键词：建筑物理 / 低碳材料 / 热带建筑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7772400" y="2185416"/>
            <a:ext cx="3255263" cy="338328"/>
          </a:xfrm>
          <a:prstGeom prst="roundRect">
            <a:avLst/>
          </a:prstGeom>
          <a:solidFill>
            <a:srgbClr val="FFF3F5"/>
          </a:solidFill>
          <a:ln w="8890">
            <a:solidFill>
              <a:srgbClr val="F3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836408" y="2262505"/>
            <a:ext cx="3127247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建筑规范可视化检索与校验系统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50" name="Connector 149"/>
          <p:cNvCxnSpPr/>
          <p:nvPr/>
        </p:nvCxnSpPr>
        <p:spPr>
          <a:xfrm>
            <a:off x="7735823" y="2816352"/>
            <a:ext cx="1060705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003535" y="2816352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8833103" y="2715133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技术流程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53" name="Rounded Rectangle 152"/>
          <p:cNvSpPr/>
          <p:nvPr/>
        </p:nvSpPr>
        <p:spPr>
          <a:xfrm>
            <a:off x="8494776" y="2926080"/>
            <a:ext cx="181051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531351" y="2963545"/>
            <a:ext cx="173736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规范文本收集</a:t>
            </a:r>
            <a:endParaRPr sz="625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55" name="Connector 154"/>
          <p:cNvCxnSpPr/>
          <p:nvPr/>
        </p:nvCxnSpPr>
        <p:spPr>
          <a:xfrm>
            <a:off x="9400032" y="3154680"/>
            <a:ext cx="0" cy="82296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8494776" y="3273552"/>
            <a:ext cx="181051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531351" y="3311017"/>
            <a:ext cx="173736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条文切片与结构化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59" name="Connector 158"/>
          <p:cNvCxnSpPr/>
          <p:nvPr/>
        </p:nvCxnSpPr>
        <p:spPr>
          <a:xfrm>
            <a:off x="9400032" y="3502152"/>
            <a:ext cx="0" cy="82296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/>
          <p:cNvSpPr/>
          <p:nvPr/>
        </p:nvSpPr>
        <p:spPr>
          <a:xfrm>
            <a:off x="8494776" y="3621024"/>
            <a:ext cx="181051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531351" y="3658489"/>
            <a:ext cx="173736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实体—属性—关系提取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63" name="Connector 162"/>
          <p:cNvCxnSpPr/>
          <p:nvPr/>
        </p:nvCxnSpPr>
        <p:spPr>
          <a:xfrm>
            <a:off x="9400032" y="3849624"/>
            <a:ext cx="0" cy="82296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4"/>
          <p:cNvSpPr/>
          <p:nvPr/>
        </p:nvSpPr>
        <p:spPr>
          <a:xfrm>
            <a:off x="8494776" y="3968496"/>
            <a:ext cx="181051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531351" y="4005960"/>
            <a:ext cx="173736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知识网络构建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67" name="Connector 166"/>
          <p:cNvCxnSpPr/>
          <p:nvPr/>
        </p:nvCxnSpPr>
        <p:spPr>
          <a:xfrm>
            <a:off x="9400032" y="4197096"/>
            <a:ext cx="0" cy="82296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ounded Rectangle 168"/>
          <p:cNvSpPr/>
          <p:nvPr/>
        </p:nvSpPr>
        <p:spPr>
          <a:xfrm>
            <a:off x="8494776" y="4315968"/>
            <a:ext cx="181051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531351" y="4353433"/>
            <a:ext cx="173736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交互式可视化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71" name="Connector 170"/>
          <p:cNvCxnSpPr/>
          <p:nvPr/>
        </p:nvCxnSpPr>
        <p:spPr>
          <a:xfrm>
            <a:off x="9400032" y="4544568"/>
            <a:ext cx="0" cy="82296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7" name="组合 336"/>
          <p:cNvGrpSpPr/>
          <p:nvPr/>
        </p:nvGrpSpPr>
        <p:grpSpPr>
          <a:xfrm>
            <a:off x="9349105" y="3227705"/>
            <a:ext cx="100965" cy="1454150"/>
            <a:chOff x="14702" y="4997"/>
            <a:chExt cx="202" cy="2391"/>
          </a:xfrm>
        </p:grpSpPr>
        <p:sp>
          <p:nvSpPr>
            <p:cNvPr id="156" name="Isosceles Triangle 155"/>
            <p:cNvSpPr/>
            <p:nvPr/>
          </p:nvSpPr>
          <p:spPr>
            <a:xfrm rot="10800000">
              <a:off x="14702" y="4997"/>
              <a:ext cx="202" cy="202"/>
            </a:xfrm>
            <a:prstGeom prst="triangle">
              <a:avLst/>
            </a:prstGeom>
            <a:solidFill>
              <a:schemeClr val="tx1"/>
            </a:solidFill>
            <a:ln w="1270">
              <a:solidFill>
                <a:srgbClr val="4B4B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Isosceles Triangle 159"/>
            <p:cNvSpPr/>
            <p:nvPr/>
          </p:nvSpPr>
          <p:spPr>
            <a:xfrm rot="10800000">
              <a:off x="14702" y="5544"/>
              <a:ext cx="202" cy="202"/>
            </a:xfrm>
            <a:prstGeom prst="triangle">
              <a:avLst/>
            </a:prstGeom>
            <a:solidFill>
              <a:schemeClr val="tx1"/>
            </a:solidFill>
            <a:ln w="1270">
              <a:solidFill>
                <a:srgbClr val="4B4B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Isosceles Triangle 163"/>
            <p:cNvSpPr/>
            <p:nvPr/>
          </p:nvSpPr>
          <p:spPr>
            <a:xfrm rot="10800000">
              <a:off x="14702" y="6091"/>
              <a:ext cx="202" cy="202"/>
            </a:xfrm>
            <a:prstGeom prst="triangle">
              <a:avLst/>
            </a:prstGeom>
            <a:solidFill>
              <a:schemeClr val="tx1"/>
            </a:solidFill>
            <a:ln w="1270">
              <a:solidFill>
                <a:srgbClr val="4B4B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Isosceles Triangle 167"/>
            <p:cNvSpPr/>
            <p:nvPr/>
          </p:nvSpPr>
          <p:spPr>
            <a:xfrm rot="10800000">
              <a:off x="14702" y="6638"/>
              <a:ext cx="202" cy="202"/>
            </a:xfrm>
            <a:prstGeom prst="triangle">
              <a:avLst/>
            </a:prstGeom>
            <a:solidFill>
              <a:schemeClr val="tx1"/>
            </a:solidFill>
            <a:ln w="1270">
              <a:solidFill>
                <a:srgbClr val="4B4B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Isosceles Triangle 171"/>
            <p:cNvSpPr/>
            <p:nvPr/>
          </p:nvSpPr>
          <p:spPr>
            <a:xfrm rot="10800000">
              <a:off x="14702" y="7186"/>
              <a:ext cx="202" cy="202"/>
            </a:xfrm>
            <a:prstGeom prst="triangle">
              <a:avLst/>
            </a:prstGeom>
            <a:solidFill>
              <a:schemeClr val="tx1"/>
            </a:solidFill>
            <a:ln w="1270">
              <a:solidFill>
                <a:srgbClr val="4B4B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3" name="Rounded Rectangle 172"/>
          <p:cNvSpPr/>
          <p:nvPr/>
        </p:nvSpPr>
        <p:spPr>
          <a:xfrm>
            <a:off x="8494776" y="4663440"/>
            <a:ext cx="181051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531351" y="4700904"/>
            <a:ext cx="173736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LLM 辅助检索与校验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175" name="Connector 174"/>
          <p:cNvCxnSpPr/>
          <p:nvPr/>
        </p:nvCxnSpPr>
        <p:spPr>
          <a:xfrm>
            <a:off x="7735823" y="5157216"/>
            <a:ext cx="1060705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003535" y="5157216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8833103" y="5055997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系统组成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78" name="Rounded Rectangle 177"/>
          <p:cNvSpPr/>
          <p:nvPr/>
        </p:nvSpPr>
        <p:spPr>
          <a:xfrm>
            <a:off x="7763256" y="5358384"/>
            <a:ext cx="978408" cy="14721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8D8D8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790688" y="5491861"/>
            <a:ext cx="923544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数据层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80" name="Rounded Rectangle 179"/>
          <p:cNvSpPr/>
          <p:nvPr/>
        </p:nvSpPr>
        <p:spPr>
          <a:xfrm>
            <a:off x="7872983" y="5742432"/>
            <a:ext cx="75895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909559" y="5779897"/>
            <a:ext cx="6858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规范文本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82" name="Rounded Rectangle 181"/>
          <p:cNvSpPr/>
          <p:nvPr/>
        </p:nvSpPr>
        <p:spPr>
          <a:xfrm>
            <a:off x="7872983" y="6053328"/>
            <a:ext cx="75895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909559" y="6090793"/>
            <a:ext cx="6858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指标条文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84" name="Rounded Rectangle 183"/>
          <p:cNvSpPr/>
          <p:nvPr/>
        </p:nvSpPr>
        <p:spPr>
          <a:xfrm>
            <a:off x="7872983" y="6364224"/>
            <a:ext cx="75895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909559" y="6401689"/>
            <a:ext cx="6858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构件信息</a:t>
            </a:r>
            <a:endParaRPr sz="545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86" name="Rounded Rectangle 185"/>
          <p:cNvSpPr/>
          <p:nvPr/>
        </p:nvSpPr>
        <p:spPr>
          <a:xfrm>
            <a:off x="8860536" y="5358384"/>
            <a:ext cx="978408" cy="14721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8D8D8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887967" y="5491861"/>
            <a:ext cx="923544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建模层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88" name="Rounded Rectangle 187"/>
          <p:cNvSpPr/>
          <p:nvPr/>
        </p:nvSpPr>
        <p:spPr>
          <a:xfrm>
            <a:off x="8970263" y="5742432"/>
            <a:ext cx="75895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006839" y="5779897"/>
            <a:ext cx="6858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处理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90" name="Rounded Rectangle 189"/>
          <p:cNvSpPr/>
          <p:nvPr/>
        </p:nvSpPr>
        <p:spPr>
          <a:xfrm>
            <a:off x="8970263" y="6053328"/>
            <a:ext cx="75895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9006839" y="6090793"/>
            <a:ext cx="6858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NetworkX</a:t>
            </a:r>
            <a:endParaRPr sz="1000" b="1">
              <a:solidFill>
                <a:srgbClr val="1F1F1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2" name="Rounded Rectangle 191"/>
          <p:cNvSpPr/>
          <p:nvPr/>
        </p:nvSpPr>
        <p:spPr>
          <a:xfrm>
            <a:off x="8970263" y="6364224"/>
            <a:ext cx="75895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006839" y="6401689"/>
            <a:ext cx="6858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Pyvis</a:t>
            </a:r>
            <a:endParaRPr sz="1000" b="1">
              <a:solidFill>
                <a:srgbClr val="1F1F1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4" name="Rounded Rectangle 193"/>
          <p:cNvSpPr/>
          <p:nvPr/>
        </p:nvSpPr>
        <p:spPr>
          <a:xfrm>
            <a:off x="9957816" y="5358384"/>
            <a:ext cx="978408" cy="14721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8D8D8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985248" y="5491861"/>
            <a:ext cx="923544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应用层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10067544" y="5742432"/>
            <a:ext cx="75895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104119" y="5779897"/>
            <a:ext cx="6858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语义检索</a:t>
            </a:r>
            <a:endParaRPr sz="545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198" name="Rounded Rectangle 197"/>
          <p:cNvSpPr/>
          <p:nvPr/>
        </p:nvSpPr>
        <p:spPr>
          <a:xfrm>
            <a:off x="10067544" y="6053328"/>
            <a:ext cx="75895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0104119" y="6090793"/>
            <a:ext cx="6858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规范校验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00" name="Rounded Rectangle 199"/>
          <p:cNvSpPr/>
          <p:nvPr/>
        </p:nvSpPr>
        <p:spPr>
          <a:xfrm>
            <a:off x="10067544" y="6364224"/>
            <a:ext cx="758952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104119" y="6401689"/>
            <a:ext cx="68580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知识追溯</a:t>
            </a:r>
            <a:endParaRPr sz="545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02" name="Connector 201"/>
          <p:cNvCxnSpPr/>
          <p:nvPr/>
        </p:nvCxnSpPr>
        <p:spPr>
          <a:xfrm>
            <a:off x="7735823" y="7004304"/>
            <a:ext cx="1060705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003535" y="7004304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8833103" y="6930390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信息层作用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7854696" y="721461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Segoe UI Symbol" panose="020B0502040204020203"/>
              </a:rPr>
              <a:t>▤</a:t>
            </a:r>
            <a:endParaRPr sz="16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7730490" y="7564120"/>
            <a:ext cx="564515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材料性能数据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07" name="Connector 206"/>
          <p:cNvCxnSpPr/>
          <p:nvPr/>
        </p:nvCxnSpPr>
        <p:spPr>
          <a:xfrm>
            <a:off x="8293608" y="7370064"/>
            <a:ext cx="237744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Isosceles Triangle 207"/>
          <p:cNvSpPr/>
          <p:nvPr/>
        </p:nvSpPr>
        <p:spPr>
          <a:xfrm rot="5400000">
            <a:off x="8467344" y="7306056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686800" y="721461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Segoe UI Symbol" panose="020B0502040204020203"/>
              </a:rPr>
              <a:t>⌘</a:t>
            </a:r>
            <a:endParaRPr sz="16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8531352" y="7640701"/>
            <a:ext cx="73152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知识结构化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11" name="Connector 210"/>
          <p:cNvCxnSpPr/>
          <p:nvPr/>
        </p:nvCxnSpPr>
        <p:spPr>
          <a:xfrm>
            <a:off x="9125712" y="7370064"/>
            <a:ext cx="237744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Isosceles Triangle 211"/>
          <p:cNvSpPr/>
          <p:nvPr/>
        </p:nvSpPr>
        <p:spPr>
          <a:xfrm rot="5400000">
            <a:off x="9299448" y="7306056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518904" y="721461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Segoe UI Symbol" panose="020B0502040204020203"/>
              </a:rPr>
              <a:t>◯</a:t>
            </a:r>
            <a:endParaRPr sz="16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9363456" y="7563866"/>
            <a:ext cx="73152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可查询/
可推理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15" name="Connector 214"/>
          <p:cNvCxnSpPr/>
          <p:nvPr/>
        </p:nvCxnSpPr>
        <p:spPr>
          <a:xfrm>
            <a:off x="9957816" y="7370064"/>
            <a:ext cx="237744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Isosceles Triangle 215"/>
          <p:cNvSpPr/>
          <p:nvPr/>
        </p:nvSpPr>
        <p:spPr>
          <a:xfrm rot="5400000">
            <a:off x="10131552" y="7306056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0351008" y="721461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Segoe UI Symbol" panose="020B0502040204020203"/>
              </a:rPr>
              <a:t>▣</a:t>
            </a:r>
            <a:endParaRPr sz="16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0195560" y="7563866"/>
            <a:ext cx="73152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支撑设计
与管理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19" name="Connector 218"/>
          <p:cNvCxnSpPr/>
          <p:nvPr/>
        </p:nvCxnSpPr>
        <p:spPr>
          <a:xfrm>
            <a:off x="7735823" y="8065008"/>
            <a:ext cx="3328417" cy="0"/>
          </a:xfrm>
          <a:prstGeom prst="line">
            <a:avLst/>
          </a:prstGeom>
          <a:ln w="952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219"/>
          <p:cNvSpPr txBox="1"/>
          <p:nvPr/>
        </p:nvSpPr>
        <p:spPr>
          <a:xfrm>
            <a:off x="7781544" y="8152765"/>
            <a:ext cx="3236976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关键词：知识图谱 / 可视化 / LLM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21" name="Rounded Rectangle 220"/>
          <p:cNvSpPr/>
          <p:nvPr/>
        </p:nvSpPr>
        <p:spPr>
          <a:xfrm>
            <a:off x="11494007" y="2194560"/>
            <a:ext cx="3291839" cy="338328"/>
          </a:xfrm>
          <a:prstGeom prst="roundRect">
            <a:avLst/>
          </a:prstGeom>
          <a:solidFill>
            <a:srgbClr val="FFF3F5"/>
          </a:solidFill>
          <a:ln w="8890">
            <a:solidFill>
              <a:srgbClr val="F3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1558015" y="2271648"/>
            <a:ext cx="3163823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台风灾后建筑损伤与恢复多智能体研究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23" name="Connector 222"/>
          <p:cNvCxnSpPr/>
          <p:nvPr/>
        </p:nvCxnSpPr>
        <p:spPr>
          <a:xfrm>
            <a:off x="11475719" y="2834640"/>
            <a:ext cx="1060705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3743431" y="2834640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12572999" y="2733421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决策流程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26" name="Rounded Rectangle 225"/>
          <p:cNvSpPr/>
          <p:nvPr/>
        </p:nvSpPr>
        <p:spPr>
          <a:xfrm>
            <a:off x="12298680" y="2953512"/>
            <a:ext cx="1645920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2335255" y="2990977"/>
            <a:ext cx="157276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灾损多源数据输入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28" name="Connector 227"/>
          <p:cNvCxnSpPr/>
          <p:nvPr/>
        </p:nvCxnSpPr>
        <p:spPr>
          <a:xfrm>
            <a:off x="13121640" y="3182112"/>
            <a:ext cx="0" cy="82296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Isosceles Triangle 228"/>
          <p:cNvSpPr/>
          <p:nvPr/>
        </p:nvSpPr>
        <p:spPr>
          <a:xfrm rot="10800000">
            <a:off x="13057632" y="3200400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13121640" y="3529584"/>
            <a:ext cx="0" cy="82295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Isosceles Triangle 232"/>
          <p:cNvSpPr/>
          <p:nvPr/>
        </p:nvSpPr>
        <p:spPr>
          <a:xfrm rot="10800000">
            <a:off x="13057632" y="3575177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Connector 235"/>
          <p:cNvCxnSpPr>
            <a:endCxn id="237" idx="3"/>
          </p:cNvCxnSpPr>
          <p:nvPr/>
        </p:nvCxnSpPr>
        <p:spPr>
          <a:xfrm>
            <a:off x="13121640" y="3877056"/>
            <a:ext cx="0" cy="10033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Isosceles Triangle 236"/>
          <p:cNvSpPr/>
          <p:nvPr/>
        </p:nvSpPr>
        <p:spPr>
          <a:xfrm rot="10800000">
            <a:off x="13057632" y="3977894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>
            <a:endCxn id="241" idx="3"/>
          </p:cNvCxnSpPr>
          <p:nvPr/>
        </p:nvCxnSpPr>
        <p:spPr>
          <a:xfrm>
            <a:off x="13121640" y="4241673"/>
            <a:ext cx="0" cy="111125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ounded Rectangle 237"/>
          <p:cNvSpPr/>
          <p:nvPr/>
        </p:nvSpPr>
        <p:spPr>
          <a:xfrm>
            <a:off x="12297410" y="4105783"/>
            <a:ext cx="1645920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2333985" y="4143247"/>
            <a:ext cx="157276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多智能体协同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41" name="Isosceles Triangle 240"/>
          <p:cNvSpPr/>
          <p:nvPr/>
        </p:nvSpPr>
        <p:spPr>
          <a:xfrm rot="10800000">
            <a:off x="13057632" y="4353306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12298045" y="4490085"/>
            <a:ext cx="1645920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2334620" y="4527550"/>
            <a:ext cx="157276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恢复计划生成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44" name="Connector 243"/>
          <p:cNvCxnSpPr/>
          <p:nvPr/>
        </p:nvCxnSpPr>
        <p:spPr>
          <a:xfrm>
            <a:off x="11475719" y="4937760"/>
            <a:ext cx="1060705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3743431" y="4937760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12572999" y="4836541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多智能体系统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47" name="Rounded Rectangle 246"/>
          <p:cNvSpPr/>
          <p:nvPr/>
        </p:nvSpPr>
        <p:spPr>
          <a:xfrm>
            <a:off x="12472415" y="5084064"/>
            <a:ext cx="1325880" cy="265176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2508991" y="5139816"/>
            <a:ext cx="125272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恢复决策系统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49" name="Connector 248"/>
          <p:cNvCxnSpPr/>
          <p:nvPr/>
        </p:nvCxnSpPr>
        <p:spPr>
          <a:xfrm>
            <a:off x="13139928" y="5349240"/>
            <a:ext cx="0" cy="164592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1859894" y="5513832"/>
            <a:ext cx="2496185" cy="0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1859767" y="5513832"/>
            <a:ext cx="0" cy="118872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Rounded Rectangle 251"/>
          <p:cNvSpPr/>
          <p:nvPr/>
        </p:nvSpPr>
        <p:spPr>
          <a:xfrm>
            <a:off x="11475719" y="5650992"/>
            <a:ext cx="731520" cy="402336"/>
          </a:xfrm>
          <a:prstGeom prst="roundRect">
            <a:avLst/>
          </a:prstGeom>
          <a:solidFill>
            <a:srgbClr val="FFF3F5"/>
          </a:solidFill>
          <a:ln w="8890">
            <a:solidFill>
              <a:srgbClr val="F3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1539728" y="5698490"/>
            <a:ext cx="60350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信息整合
Agent</a:t>
            </a:r>
            <a:endParaRPr sz="1000" b="1">
              <a:solidFill>
                <a:srgbClr val="1F1F1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54" name="Connector 253"/>
          <p:cNvCxnSpPr/>
          <p:nvPr/>
        </p:nvCxnSpPr>
        <p:spPr>
          <a:xfrm>
            <a:off x="11841480" y="6062472"/>
            <a:ext cx="0" cy="237744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Isosceles Triangle 254"/>
          <p:cNvSpPr/>
          <p:nvPr/>
        </p:nvSpPr>
        <p:spPr>
          <a:xfrm rot="10800000">
            <a:off x="11777472" y="6236207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ounded Rectangle 255"/>
          <p:cNvSpPr/>
          <p:nvPr/>
        </p:nvSpPr>
        <p:spPr>
          <a:xfrm>
            <a:off x="11475719" y="6318504"/>
            <a:ext cx="731520" cy="338328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1512295" y="6410833"/>
            <a:ext cx="65836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修缮优先级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58" name="Connector 257"/>
          <p:cNvCxnSpPr/>
          <p:nvPr/>
        </p:nvCxnSpPr>
        <p:spPr>
          <a:xfrm>
            <a:off x="12691872" y="5513832"/>
            <a:ext cx="0" cy="118872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Rounded Rectangle 258"/>
          <p:cNvSpPr/>
          <p:nvPr/>
        </p:nvSpPr>
        <p:spPr>
          <a:xfrm>
            <a:off x="12307824" y="5650992"/>
            <a:ext cx="731520" cy="402336"/>
          </a:xfrm>
          <a:prstGeom prst="roundRect">
            <a:avLst/>
          </a:prstGeom>
          <a:solidFill>
            <a:srgbClr val="FFF3F5"/>
          </a:solidFill>
          <a:ln w="8890">
            <a:solidFill>
              <a:srgbClr val="F3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2371832" y="5698490"/>
            <a:ext cx="60350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约束识别
</a:t>
            </a:r>
            <a:r>
              <a:rPr sz="1000" b="1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Agent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61" name="Connector 260"/>
          <p:cNvCxnSpPr/>
          <p:nvPr/>
        </p:nvCxnSpPr>
        <p:spPr>
          <a:xfrm>
            <a:off x="12673584" y="6062472"/>
            <a:ext cx="0" cy="237744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Isosceles Triangle 261"/>
          <p:cNvSpPr/>
          <p:nvPr/>
        </p:nvSpPr>
        <p:spPr>
          <a:xfrm rot="10800000">
            <a:off x="12609576" y="6236207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ounded Rectangle 262"/>
          <p:cNvSpPr/>
          <p:nvPr/>
        </p:nvSpPr>
        <p:spPr>
          <a:xfrm>
            <a:off x="12307824" y="6318504"/>
            <a:ext cx="731520" cy="338328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2344399" y="6410833"/>
            <a:ext cx="65836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材料推荐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65" name="Connector 264"/>
          <p:cNvCxnSpPr/>
          <p:nvPr/>
        </p:nvCxnSpPr>
        <p:spPr>
          <a:xfrm>
            <a:off x="13523976" y="5513832"/>
            <a:ext cx="0" cy="118872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Rounded Rectangle 265"/>
          <p:cNvSpPr/>
          <p:nvPr/>
        </p:nvSpPr>
        <p:spPr>
          <a:xfrm>
            <a:off x="13139928" y="5650992"/>
            <a:ext cx="731520" cy="402336"/>
          </a:xfrm>
          <a:prstGeom prst="roundRect">
            <a:avLst/>
          </a:prstGeom>
          <a:solidFill>
            <a:srgbClr val="FFF3F5"/>
          </a:solidFill>
          <a:ln w="8890">
            <a:solidFill>
              <a:srgbClr val="F3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13203936" y="5698490"/>
            <a:ext cx="60350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任务规划
</a:t>
            </a:r>
            <a:r>
              <a:rPr sz="1000" b="1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Agent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68" name="Connector 267"/>
          <p:cNvCxnSpPr/>
          <p:nvPr/>
        </p:nvCxnSpPr>
        <p:spPr>
          <a:xfrm>
            <a:off x="13505688" y="6062472"/>
            <a:ext cx="0" cy="237744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Isosceles Triangle 268"/>
          <p:cNvSpPr/>
          <p:nvPr/>
        </p:nvSpPr>
        <p:spPr>
          <a:xfrm rot="10800000">
            <a:off x="13441680" y="6236207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ounded Rectangle 269"/>
          <p:cNvSpPr/>
          <p:nvPr/>
        </p:nvSpPr>
        <p:spPr>
          <a:xfrm>
            <a:off x="13139928" y="6318504"/>
            <a:ext cx="731520" cy="338328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13176503" y="6410833"/>
            <a:ext cx="65836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工作计划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72" name="Connector 271"/>
          <p:cNvCxnSpPr/>
          <p:nvPr/>
        </p:nvCxnSpPr>
        <p:spPr>
          <a:xfrm>
            <a:off x="14356080" y="5513832"/>
            <a:ext cx="0" cy="118872"/>
          </a:xfrm>
          <a:prstGeom prst="line">
            <a:avLst/>
          </a:prstGeom>
          <a:ln w="8255">
            <a:solidFill>
              <a:srgbClr val="B6B6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Rounded Rectangle 272"/>
          <p:cNvSpPr/>
          <p:nvPr/>
        </p:nvSpPr>
        <p:spPr>
          <a:xfrm>
            <a:off x="13972032" y="5650992"/>
            <a:ext cx="731520" cy="402336"/>
          </a:xfrm>
          <a:prstGeom prst="roundRect">
            <a:avLst/>
          </a:prstGeom>
          <a:solidFill>
            <a:srgbClr val="FFF3F5"/>
          </a:solidFill>
          <a:ln w="8890">
            <a:solidFill>
              <a:srgbClr val="F3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4036040" y="5698490"/>
            <a:ext cx="60350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资源协调
</a:t>
            </a:r>
            <a:r>
              <a:rPr sz="1000" b="1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Agent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75" name="Connector 274"/>
          <p:cNvCxnSpPr/>
          <p:nvPr/>
        </p:nvCxnSpPr>
        <p:spPr>
          <a:xfrm>
            <a:off x="14337792" y="6062472"/>
            <a:ext cx="0" cy="237744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Isosceles Triangle 275"/>
          <p:cNvSpPr/>
          <p:nvPr/>
        </p:nvSpPr>
        <p:spPr>
          <a:xfrm rot="10800000">
            <a:off x="14273784" y="6236207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ounded Rectangle 276"/>
          <p:cNvSpPr/>
          <p:nvPr/>
        </p:nvSpPr>
        <p:spPr>
          <a:xfrm>
            <a:off x="13972032" y="6318504"/>
            <a:ext cx="731520" cy="338328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4008607" y="6410833"/>
            <a:ext cx="65836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资源配置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79" name="Connector 278"/>
          <p:cNvCxnSpPr/>
          <p:nvPr/>
        </p:nvCxnSpPr>
        <p:spPr>
          <a:xfrm>
            <a:off x="11475719" y="6995160"/>
            <a:ext cx="1060705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3743431" y="6995160"/>
            <a:ext cx="1060704" cy="0"/>
          </a:xfrm>
          <a:prstGeom prst="line">
            <a:avLst/>
          </a:prstGeom>
          <a:ln w="1079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extBox 280"/>
          <p:cNvSpPr txBox="1"/>
          <p:nvPr/>
        </p:nvSpPr>
        <p:spPr>
          <a:xfrm>
            <a:off x="12572999" y="6893941"/>
            <a:ext cx="113385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200" b="1">
                <a:solidFill>
                  <a:srgbClr val="1F1F1F"/>
                </a:solidFill>
                <a:latin typeface="微软雅黑" panose="020B0503020204020204" charset="-122"/>
              </a:rPr>
              <a:t>管理层价值</a:t>
            </a:r>
            <a:endParaRPr sz="12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11631167" y="7187184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Segoe UI Symbol" panose="020B0502040204020203"/>
              </a:rPr>
              <a:t>▢</a:t>
            </a:r>
            <a:endParaRPr sz="15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11457432" y="7608697"/>
            <a:ext cx="6400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知识支持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84" name="Connector 283"/>
          <p:cNvCxnSpPr/>
          <p:nvPr/>
        </p:nvCxnSpPr>
        <p:spPr>
          <a:xfrm>
            <a:off x="11978640" y="7370064"/>
            <a:ext cx="265175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Isosceles Triangle 284"/>
          <p:cNvSpPr/>
          <p:nvPr/>
        </p:nvSpPr>
        <p:spPr>
          <a:xfrm rot="5400000">
            <a:off x="12179807" y="7306056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426695" y="7187184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Segoe UI Symbol" panose="020B0502040204020203"/>
              </a:rPr>
              <a:t>☷</a:t>
            </a:r>
            <a:endParaRPr sz="15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12252959" y="7608697"/>
            <a:ext cx="6400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约束识别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88" name="Connector 287"/>
          <p:cNvCxnSpPr/>
          <p:nvPr/>
        </p:nvCxnSpPr>
        <p:spPr>
          <a:xfrm>
            <a:off x="12774167" y="7370064"/>
            <a:ext cx="265176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Isosceles Triangle 288"/>
          <p:cNvSpPr/>
          <p:nvPr/>
        </p:nvSpPr>
        <p:spPr>
          <a:xfrm rot="5400000">
            <a:off x="12975335" y="7306056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3222224" y="7187184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Segoe UI Symbol" panose="020B0502040204020203"/>
              </a:rPr>
              <a:t>♧</a:t>
            </a:r>
            <a:endParaRPr sz="15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13048488" y="7608697"/>
            <a:ext cx="6400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协同决策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92" name="Connector 291"/>
          <p:cNvCxnSpPr/>
          <p:nvPr/>
        </p:nvCxnSpPr>
        <p:spPr>
          <a:xfrm>
            <a:off x="13569696" y="7370064"/>
            <a:ext cx="265176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Isosceles Triangle 292"/>
          <p:cNvSpPr/>
          <p:nvPr/>
        </p:nvSpPr>
        <p:spPr>
          <a:xfrm rot="5400000">
            <a:off x="13770863" y="7306056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14017751" y="7187184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F1F1F"/>
                </a:solidFill>
                <a:latin typeface="Segoe UI Symbol" panose="020B0502040204020203"/>
              </a:rPr>
              <a:t>⌁</a:t>
            </a:r>
            <a:endParaRPr sz="15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13844015" y="7531862"/>
            <a:ext cx="64008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灾后恢复
效率提升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296" name="Connector 295"/>
          <p:cNvCxnSpPr/>
          <p:nvPr/>
        </p:nvCxnSpPr>
        <p:spPr>
          <a:xfrm>
            <a:off x="11475719" y="8065008"/>
            <a:ext cx="3328416" cy="0"/>
          </a:xfrm>
          <a:prstGeom prst="line">
            <a:avLst/>
          </a:prstGeom>
          <a:ln w="9525">
            <a:solidFill>
              <a:srgbClr val="F39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11494007" y="8152765"/>
            <a:ext cx="3291839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关键词：台风灾后 / 多智能体 / 智能建造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98" name="Rounded Rectangle 297"/>
          <p:cNvSpPr/>
          <p:nvPr/>
        </p:nvSpPr>
        <p:spPr>
          <a:xfrm>
            <a:off x="164592" y="8586216"/>
            <a:ext cx="147904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4800600" y="8691944"/>
            <a:ext cx="5486400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1F1F"/>
                </a:solidFill>
                <a:latin typeface="微软雅黑" panose="020B0503020204020204" charset="-122"/>
              </a:rPr>
              <a:t>融合应用与能力递进</a:t>
            </a:r>
            <a:endParaRPr sz="16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300" name="Oval 299"/>
          <p:cNvSpPr/>
          <p:nvPr/>
        </p:nvSpPr>
        <p:spPr>
          <a:xfrm>
            <a:off x="713232" y="8997696"/>
            <a:ext cx="557784" cy="5577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5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557784" y="9693529"/>
            <a:ext cx="8686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材料实验</a:t>
            </a:r>
            <a:endParaRPr sz="10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303" name="Connector 302"/>
          <p:cNvCxnSpPr/>
          <p:nvPr/>
        </p:nvCxnSpPr>
        <p:spPr>
          <a:xfrm>
            <a:off x="1426464" y="9281160"/>
            <a:ext cx="1280160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Isosceles Triangle 303"/>
          <p:cNvSpPr/>
          <p:nvPr/>
        </p:nvSpPr>
        <p:spPr>
          <a:xfrm rot="5400000">
            <a:off x="2642616" y="9217152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971800" y="8997696"/>
            <a:ext cx="557784" cy="5577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5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2816352" y="9693529"/>
            <a:ext cx="8686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数据治理</a:t>
            </a:r>
            <a:endParaRPr sz="71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308" name="Connector 307"/>
          <p:cNvCxnSpPr/>
          <p:nvPr/>
        </p:nvCxnSpPr>
        <p:spPr>
          <a:xfrm>
            <a:off x="3685032" y="9281160"/>
            <a:ext cx="1280160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Isosceles Triangle 308"/>
          <p:cNvSpPr/>
          <p:nvPr/>
        </p:nvSpPr>
        <p:spPr>
          <a:xfrm rot="5400000">
            <a:off x="4901183" y="9217152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5230368" y="8997696"/>
            <a:ext cx="557784" cy="5577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5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5074920" y="9693529"/>
            <a:ext cx="8686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知识建模</a:t>
            </a:r>
            <a:endParaRPr sz="71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313" name="Connector 312"/>
          <p:cNvCxnSpPr/>
          <p:nvPr/>
        </p:nvCxnSpPr>
        <p:spPr>
          <a:xfrm>
            <a:off x="5943600" y="9281160"/>
            <a:ext cx="1280160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Isosceles Triangle 313"/>
          <p:cNvSpPr/>
          <p:nvPr/>
        </p:nvSpPr>
        <p:spPr>
          <a:xfrm rot="5400000">
            <a:off x="7159752" y="9217152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488936" y="8997696"/>
            <a:ext cx="557784" cy="5577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5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333488" y="9693529"/>
            <a:ext cx="8686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智能决策</a:t>
            </a:r>
            <a:endParaRPr sz="71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cxnSp>
        <p:nvCxnSpPr>
          <p:cNvPr id="318" name="Connector 317"/>
          <p:cNvCxnSpPr/>
          <p:nvPr/>
        </p:nvCxnSpPr>
        <p:spPr>
          <a:xfrm>
            <a:off x="8202167" y="9281160"/>
            <a:ext cx="1280161" cy="0"/>
          </a:xfrm>
          <a:prstGeom prst="line">
            <a:avLst/>
          </a:prstGeom>
          <a:ln w="8890">
            <a:solidFill>
              <a:srgbClr val="4B4B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Isosceles Triangle 318"/>
          <p:cNvSpPr/>
          <p:nvPr/>
        </p:nvSpPr>
        <p:spPr>
          <a:xfrm rot="5400000">
            <a:off x="9418319" y="9217152"/>
            <a:ext cx="128016" cy="128016"/>
          </a:xfrm>
          <a:prstGeom prst="triangle">
            <a:avLst/>
          </a:prstGeom>
          <a:solidFill>
            <a:srgbClr val="4B4B4B"/>
          </a:solidFill>
          <a:ln w="1270">
            <a:solidFill>
              <a:srgbClr val="4B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9747504" y="8997696"/>
            <a:ext cx="557784" cy="5577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5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9592056" y="9693529"/>
            <a:ext cx="868680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微软雅黑" panose="020B0503020204020204" charset="-122"/>
              </a:rPr>
              <a:t>设计应用</a:t>
            </a:r>
            <a:endParaRPr sz="71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592455" y="10073005"/>
            <a:ext cx="9283065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600" b="1">
                <a:solidFill>
                  <a:srgbClr val="1F1F1F"/>
                </a:solidFill>
                <a:latin typeface="微软雅黑" panose="020B0503020204020204" charset="-122"/>
              </a:rPr>
              <a:t>形成面向热带海岛建筑的跨学科科研路径：材料提供物质基础，信息建立知识桥梁，管理支撑智能决策。</a:t>
            </a:r>
            <a:endParaRPr sz="16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324" name="Rounded Rectangle 323"/>
          <p:cNvSpPr/>
          <p:nvPr/>
        </p:nvSpPr>
        <p:spPr>
          <a:xfrm>
            <a:off x="10460736" y="8887968"/>
            <a:ext cx="436168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3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11503152" y="8915210"/>
            <a:ext cx="2331720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1F1F"/>
                </a:solidFill>
                <a:latin typeface="微软雅黑" panose="020B0503020204020204" charset="-122"/>
              </a:rPr>
              <a:t>关键工具与平台</a:t>
            </a:r>
            <a:endParaRPr sz="1600" b="1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12929616" y="9262872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  <a:latin typeface="Segoe UI Symbol" panose="020B0502040204020203"/>
              </a:rPr>
              <a:t>≋</a:t>
            </a:r>
            <a:endParaRPr sz="14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333" name="TextBox 332"/>
          <p:cNvSpPr txBox="1"/>
          <p:nvPr/>
        </p:nvSpPr>
        <p:spPr>
          <a:xfrm>
            <a:off x="13496544" y="9262872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  <a:latin typeface="Segoe UI Symbol" panose="020B0502040204020203"/>
              </a:rPr>
              <a:t>▥</a:t>
            </a:r>
            <a:endParaRPr sz="140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334" name="TextBox 333"/>
          <p:cNvSpPr txBox="1"/>
          <p:nvPr/>
        </p:nvSpPr>
        <p:spPr>
          <a:xfrm>
            <a:off x="14063472" y="9262872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>
                <a:solidFill>
                  <a:srgbClr val="1F1F1F"/>
                </a:solidFill>
                <a:latin typeface="Segoe UI Symbol" panose="020B0502040204020203"/>
              </a:rPr>
              <a:t>AIGC</a:t>
            </a:r>
            <a:endParaRPr sz="650" b="0">
              <a:solidFill>
                <a:srgbClr val="1F1F1F"/>
              </a:solidFill>
              <a:latin typeface="Segoe UI Symbol" panose="020B0502040204020203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10643616" y="9700197"/>
            <a:ext cx="3950208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Python  /  NetworkX  /  Pyvis  /  LLM  /  建筑物理  /  BIM  /  AIGC</a:t>
            </a:r>
            <a:endParaRPr sz="1200" b="1">
              <a:solidFill>
                <a:srgbClr val="1F1F1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228600" y="10497312"/>
            <a:ext cx="3749039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" b="0">
                <a:solidFill>
                  <a:srgbClr val="999999"/>
                </a:solidFill>
                <a:latin typeface="微软雅黑" panose="020B0503020204020204" charset="-122"/>
              </a:rPr>
              <a:t>A3 横向 · 全部由可编辑 PowerPoint 对象构成</a:t>
            </a:r>
            <a:endParaRPr sz="380" b="0">
              <a:solidFill>
                <a:srgbClr val="999999"/>
              </a:solidFill>
              <a:latin typeface="微软雅黑" panose="020B0503020204020204" charset="-122"/>
            </a:endParaRPr>
          </a:p>
        </p:txBody>
      </p:sp>
      <p:cxnSp>
        <p:nvCxnSpPr>
          <p:cNvPr id="338" name="Connector 47"/>
          <p:cNvCxnSpPr/>
          <p:nvPr/>
        </p:nvCxnSpPr>
        <p:spPr>
          <a:xfrm>
            <a:off x="3383026" y="3995800"/>
            <a:ext cx="0" cy="91441"/>
          </a:xfrm>
          <a:prstGeom prst="line">
            <a:avLst/>
          </a:prstGeom>
          <a:ln w="8255">
            <a:solidFill>
              <a:srgbClr val="B6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0" name="组合 339"/>
          <p:cNvGrpSpPr/>
          <p:nvPr/>
        </p:nvGrpSpPr>
        <p:grpSpPr>
          <a:xfrm>
            <a:off x="5600065" y="3295989"/>
            <a:ext cx="100965" cy="1559365"/>
            <a:chOff x="14702" y="4937"/>
            <a:chExt cx="202" cy="2564"/>
          </a:xfrm>
        </p:grpSpPr>
        <p:sp>
          <p:nvSpPr>
            <p:cNvPr id="341" name="Isosceles Triangle 155"/>
            <p:cNvSpPr/>
            <p:nvPr/>
          </p:nvSpPr>
          <p:spPr>
            <a:xfrm rot="10800000">
              <a:off x="14702" y="4937"/>
              <a:ext cx="202" cy="202"/>
            </a:xfrm>
            <a:prstGeom prst="triangle">
              <a:avLst/>
            </a:prstGeom>
            <a:solidFill>
              <a:schemeClr val="tx1"/>
            </a:solidFill>
            <a:ln w="1270">
              <a:solidFill>
                <a:srgbClr val="4B4B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Isosceles Triangle 159"/>
            <p:cNvSpPr/>
            <p:nvPr/>
          </p:nvSpPr>
          <p:spPr>
            <a:xfrm rot="10800000">
              <a:off x="14702" y="5481"/>
              <a:ext cx="202" cy="202"/>
            </a:xfrm>
            <a:prstGeom prst="triangle">
              <a:avLst/>
            </a:prstGeom>
            <a:solidFill>
              <a:schemeClr val="tx1"/>
            </a:solidFill>
            <a:ln w="1270">
              <a:solidFill>
                <a:srgbClr val="4B4B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Isosceles Triangle 163"/>
            <p:cNvSpPr/>
            <p:nvPr/>
          </p:nvSpPr>
          <p:spPr>
            <a:xfrm rot="10800000">
              <a:off x="14702" y="6091"/>
              <a:ext cx="202" cy="202"/>
            </a:xfrm>
            <a:prstGeom prst="triangle">
              <a:avLst/>
            </a:prstGeom>
            <a:solidFill>
              <a:schemeClr val="tx1"/>
            </a:solidFill>
            <a:ln w="1270">
              <a:solidFill>
                <a:srgbClr val="4B4B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Isosceles Triangle 167"/>
            <p:cNvSpPr/>
            <p:nvPr/>
          </p:nvSpPr>
          <p:spPr>
            <a:xfrm rot="10800000">
              <a:off x="14702" y="6666"/>
              <a:ext cx="202" cy="202"/>
            </a:xfrm>
            <a:prstGeom prst="triangle">
              <a:avLst/>
            </a:prstGeom>
            <a:solidFill>
              <a:schemeClr val="tx1"/>
            </a:solidFill>
            <a:ln w="1270">
              <a:solidFill>
                <a:srgbClr val="4B4B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Isosceles Triangle 171"/>
            <p:cNvSpPr/>
            <p:nvPr/>
          </p:nvSpPr>
          <p:spPr>
            <a:xfrm rot="10800000">
              <a:off x="14702" y="7299"/>
              <a:ext cx="202" cy="202"/>
            </a:xfrm>
            <a:prstGeom prst="triangle">
              <a:avLst/>
            </a:prstGeom>
            <a:solidFill>
              <a:schemeClr val="tx1"/>
            </a:solidFill>
            <a:ln w="1270">
              <a:solidFill>
                <a:srgbClr val="4B4B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4" name="Rounded Rectangle 233"/>
          <p:cNvSpPr/>
          <p:nvPr/>
        </p:nvSpPr>
        <p:spPr>
          <a:xfrm>
            <a:off x="12298045" y="3703066"/>
            <a:ext cx="1645920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2334620" y="3740531"/>
            <a:ext cx="157276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任务与约束建模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  <p:sp>
        <p:nvSpPr>
          <p:cNvPr id="230" name="Rounded Rectangle 229"/>
          <p:cNvSpPr/>
          <p:nvPr/>
        </p:nvSpPr>
        <p:spPr>
          <a:xfrm>
            <a:off x="12298680" y="3327654"/>
            <a:ext cx="1645920" cy="228600"/>
          </a:xfrm>
          <a:prstGeom prst="roundRect">
            <a:avLst/>
          </a:prstGeom>
          <a:solidFill>
            <a:srgbClr val="F7F7F7"/>
          </a:solidFill>
          <a:ln w="6985">
            <a:solidFill>
              <a:srgbClr val="848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2335255" y="3365119"/>
            <a:ext cx="1572768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1000" b="0">
                <a:solidFill>
                  <a:srgbClr val="1F1F1F"/>
                </a:solidFill>
                <a:latin typeface="微软雅黑" panose="020B0503020204020204" charset="-122"/>
              </a:rPr>
              <a:t>损伤信息识别</a:t>
            </a:r>
            <a:endParaRPr sz="1000" b="0">
              <a:solidFill>
                <a:srgbClr val="1F1F1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1119</Words>
  <Application>WPS 演示</Application>
  <PresentationFormat>On-screen Show (4:3)</PresentationFormat>
  <Paragraphs>262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Segoe UI Symbol</vt:lpstr>
      <vt:lpstr>Calibri</vt:lpstr>
      <vt:lpstr>Arial Unicode MS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WPS_1663570621</cp:lastModifiedBy>
  <cp:revision>3</cp:revision>
  <dcterms:created xsi:type="dcterms:W3CDTF">2013-01-27T09:14:00Z</dcterms:created>
  <dcterms:modified xsi:type="dcterms:W3CDTF">2026-07-25T11:17:58Z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D5ED9CD09F034CFC9E928E8D11397962_12</vt:lpwstr>
  </property>
</Properties>
</file>