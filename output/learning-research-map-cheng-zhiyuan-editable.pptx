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c9d21bdb74e76" /><Relationship Type="http://schemas.openxmlformats.org/officeDocument/2006/relationships/extended-properties" Target="/docProps/app.xml" Id="R871d26f7a6a347cd" /><Relationship Type="http://schemas.openxmlformats.org/officeDocument/2006/relationships/officeDocument" Target="/ppt/presentation.xml" Id="R727f3c9bdd50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a79ce6f534df8"/>
  </p:sldMasterIdLst>
  <p:notesMasterIdLst>
    <p:notesMasterId xmlns:r="http://schemas.openxmlformats.org/officeDocument/2006/relationships" r:id="Rff83379dab114bbd"/>
  </p:notesMasterIdLst>
  <p:sldIdLst>
    <p:sldId xmlns:r="http://schemas.openxmlformats.org/officeDocument/2006/relationships" id="256" r:id="Re35692c3f39d485a"/>
  </p:sldIdLst>
  <p:sldSz cx="15240000" cy="10782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288cf9abae40c8" /><Relationship Type="http://schemas.openxmlformats.org/officeDocument/2006/relationships/slideMaster" Target="/ppt/slideMasters/slideMaster1.xml" Id="Rc8fa79ce6f534df8" /><Relationship Type="http://schemas.openxmlformats.org/officeDocument/2006/relationships/notesMaster" Target="/ppt/notesMasters/notesMaster1.xml" Id="Rff83379dab114bbd" /><Relationship Type="http://schemas.openxmlformats.org/officeDocument/2006/relationships/presProps" Target="/ppt/presProps.xml" Id="R2a66459ae16f4f75" /><Relationship Type="http://schemas.openxmlformats.org/officeDocument/2006/relationships/tableStyles" Target="/ppt/tableStyles.xml" Id="R633ceb339bf54fe8" /><Relationship Type="http://schemas.openxmlformats.org/officeDocument/2006/relationships/slide" Target="/ppt/slides/slide1.xml" Id="Re35692c3f39d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238d4f695342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be1c88b2e41d8" /><Relationship Type="http://schemas.openxmlformats.org/officeDocument/2006/relationships/notesMaster" Target="/ppt/notesMasters/notesMaster1.xml" Id="R60d69f032a5c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Personal experience: E:/Users/czy/Desktop/作品集网站demo/src/portfolioData.ts</a:t>
            </a:r>
          </a:p>
          <a:p xmlns:a="http://schemas.openxmlformats.org/drawingml/2006/main">
            <a:r>
              <a:t>- Personal experience: E:/Users/czy/Desktop/作品集网站demo/knowledge/index.json</a:t>
            </a:r>
          </a:p>
          <a:p xmlns:a="http://schemas.openxmlformats.org/drawingml/2006/main">
            <a:r>
              <a:t>- Self-recommendation letter: E:/Users/czy/Desktop/东南相关材料/韩梦涛老师自荐信.md</a:t>
            </a:r>
          </a:p>
          <a:p xmlns:a="http://schemas.openxmlformats.org/drawingml/2006/main">
            <a:r>
              <a:t>- Han Mengtao profile: https://www.researchgate.net/profile/Mengtao-Han</a:t>
            </a:r>
          </a:p>
          <a:p xmlns:a="http://schemas.openxmlformats.org/drawingml/2006/main">
            <a:r>
              <a:t>- Han Mengtao official page: http://faculty.hust.edu.cn/hanmengtao/</a:t>
            </a:r>
          </a:p>
          <a:p xmlns:a="http://schemas.openxmlformats.org/drawingml/2006/main">
            <a:r>
              <a:t>- HUST low-altitude technology and engineering discipline: https://news.hust.edu.cn/info/1003/56197.htm</a:t>
            </a:r>
          </a:p>
          <a:p xmlns:a="http://schemas.openxmlformats.org/drawingml/2006/main">
            <a:r>
              <a:t>- Visual style reference: E:/Users/czy/Desktop/作品集网站demo/tmp/learning-roadmap-reference.jpg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ce905b7364d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b1169c26624123" /><Relationship Type="http://schemas.openxmlformats.org/officeDocument/2006/relationships/slideLayout" Target="/ppt/slideLayouts/slideLayout1.xml" Id="Rdf22a45b533c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2a45b533c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935fd8ec4b07" /><Relationship Type="http://schemas.openxmlformats.org/officeDocument/2006/relationships/notesSlide" Target="/ppt/notesSlides/notesSlide1.xml" Id="Ree1bd6a0880d4c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itle">
            <a:extLst xmlns:a="http://schemas.openxmlformats.org/drawingml/2006/main">
              <a:ext uri="{FF2B5EF4-FFF2-40B4-BE49-F238E27FC236}">
                <a16:creationId xmlns:a16="http://schemas.microsoft.com/office/drawing/2014/main" id="{2AFDD7AD-3B70-4FD7-87B7-3A20BD39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A1F"/>
                </a:solidFill>
              </a:defRPr>
            </a:pPr>
            <a:r>
              <a:rPr sz="3150" b="1">
                <a:solidFill>
                  <a:srgbClr val="171A1F"/>
                </a:solidFill>
              </a:rPr>
              <a:t>LEARNING &amp; RESEARCH MAP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168B85-8D14-466C-B908-2A0BC56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810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52B"/>
                </a:solidFill>
              </a:defRPr>
            </a:pPr>
            <a:r>
              <a:rPr sz="1875" b="0">
                <a:solidFill>
                  <a:srgbClr val="22252B"/>
                </a:solidFill>
              </a:rPr>
              <a:t>程志远｜建筑环境 × 数字技术 × 低空工程兴趣图谱</a:t>
            </a:r>
          </a:p>
        </p:txBody>
      </p:sp>
      <p:sp>
        <p:nvSpPr>
          <p:cNvPr id="3" name="personal-core">
            <a:extLst xmlns:a="http://schemas.openxmlformats.org/drawingml/2006/main">
              <a:ext uri="{FF2B5EF4-FFF2-40B4-BE49-F238E27FC236}">
                <a16:creationId xmlns:a16="http://schemas.microsoft.com/office/drawing/2014/main" id="{06A5D5FB-06ED-4290-8DFE-B2D2BB78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52"/>
          </a:solidFill>
          <a:ln xmlns:a="http://schemas.openxmlformats.org/drawingml/2006/main" w="9525">
            <a:solidFill>
              <a:srgbClr val="416B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个人经历与能力</a:t>
            </a:r>
          </a:p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程志远</a:t>
            </a:r>
          </a:p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海南大学建筑学 2026届</a:t>
            </a:r>
          </a:p>
        </p:txBody>
      </p:sp>
      <p:sp>
        <p:nvSpPr>
          <p:cNvPr id="4" name="future-core">
            <a:extLst xmlns:a="http://schemas.openxmlformats.org/drawingml/2006/main">
              <a:ext uri="{FF2B5EF4-FFF2-40B4-BE49-F238E27FC236}">
                <a16:creationId xmlns:a16="http://schemas.microsoft.com/office/drawing/2014/main" id="{B9EC81DF-ED3F-4C53-83D7-C032E6E1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52875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14B7F"/>
          </a:solidFill>
          <a:ln xmlns:a="http://schemas.openxmlformats.org/drawingml/2006/main" w="9525">
            <a:solidFill>
              <a:srgbClr val="514B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建成环境与</a:t>
            </a:r>
          </a:p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城市低空安全</a:t>
            </a:r>
          </a:p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韩梦涛老师方向</a:t>
            </a:r>
          </a:p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× 低空技术工程</a:t>
            </a:r>
          </a:p>
        </p:txBody>
      </p:sp>
      <p:sp>
        <p:nvSpPr>
          <p:cNvPr id="5" name="environment-cluster">
            <a:extLst xmlns:a="http://schemas.openxmlformats.org/drawingml/2006/main">
              <a:ext uri="{FF2B5EF4-FFF2-40B4-BE49-F238E27FC236}">
                <a16:creationId xmlns:a16="http://schemas.microsoft.com/office/drawing/2014/main" id="{5C28ED14-CDE4-4BE6-A778-B81EA4ED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812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9525">
            <a:solidFill>
              <a:srgbClr val="708A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建筑与</a:t>
            </a:r>
          </a:p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环境基础</a:t>
            </a:r>
          </a:p>
        </p:txBody>
      </p:sp>
      <p:sp>
        <p:nvSpPr>
          <p:cNvPr id="6" name="digital-cluster">
            <a:extLst xmlns:a="http://schemas.openxmlformats.org/drawingml/2006/main">
              <a:ext uri="{FF2B5EF4-FFF2-40B4-BE49-F238E27FC236}">
                <a16:creationId xmlns:a16="http://schemas.microsoft.com/office/drawing/2014/main" id="{FF96FAEC-8328-4E9E-9424-1CFD175D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9525">
            <a:solidFill>
              <a:srgbClr val="A78C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DF8"/>
                </a:solidFill>
              </a:defRPr>
            </a:pPr>
            <a:r>
              <a:rPr sz="1088" b="1">
                <a:solidFill>
                  <a:srgbClr val="FFFDF8"/>
                </a:solidFill>
              </a:rPr>
              <a:t>数字建模</a:t>
            </a:r>
          </a:p>
          <a:p xmlns:a="http://schemas.openxmlformats.org/drawingml/2006/main">
            <a:pPr algn="ctr">
              <a:defRPr sz="1088" b="1">
                <a:solidFill>
                  <a:srgbClr val="FFFDF8"/>
                </a:solidFill>
              </a:defRPr>
            </a:pPr>
            <a:r>
              <a:rPr sz="1088" b="1">
                <a:solidFill>
                  <a:srgbClr val="FFFDF8"/>
                </a:solidFill>
              </a:rPr>
              <a:t>与分析</a:t>
            </a:r>
          </a:p>
        </p:txBody>
      </p:sp>
      <p:sp>
        <p:nvSpPr>
          <p:cNvPr id="7" name="research-cluster">
            <a:extLst xmlns:a="http://schemas.openxmlformats.org/drawingml/2006/main">
              <a:ext uri="{FF2B5EF4-FFF2-40B4-BE49-F238E27FC236}">
                <a16:creationId xmlns:a16="http://schemas.microsoft.com/office/drawing/2014/main" id="{063E538B-ED96-4F4D-A496-CC60BAF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762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9525">
            <a:solidFill>
              <a:srgbClr val="A78C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科研</a:t>
            </a:r>
          </a:p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与协同</a:t>
            </a:r>
          </a:p>
        </p:txBody>
      </p:sp>
      <p:sp>
        <p:nvSpPr>
          <p:cNvPr id="8" name="bridge-data">
            <a:extLst xmlns:a="http://schemas.openxmlformats.org/drawingml/2006/main">
              <a:ext uri="{FF2B5EF4-FFF2-40B4-BE49-F238E27FC236}">
                <a16:creationId xmlns:a16="http://schemas.microsoft.com/office/drawing/2014/main" id="{D38FA48A-AEF5-4E14-AAC4-2515F8A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4A8"/>
          </a:solidFill>
          <a:ln xmlns:a="http://schemas.openxmlformats.org/drawingml/2006/main" w="9525">
            <a:solidFill>
              <a:srgbClr val="6A84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多尺度</a:t>
            </a:r>
          </a:p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环境数据</a:t>
            </a:r>
          </a:p>
        </p:txBody>
      </p:sp>
      <p:sp>
        <p:nvSpPr>
          <p:cNvPr id="9" name="bridge-param">
            <a:extLst xmlns:a="http://schemas.openxmlformats.org/drawingml/2006/main">
              <a:ext uri="{FF2B5EF4-FFF2-40B4-BE49-F238E27FC236}">
                <a16:creationId xmlns:a16="http://schemas.microsoft.com/office/drawing/2014/main" id="{F8A889A6-DFA0-4B74-94D5-25A24BA3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432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4A8"/>
          </a:solidFill>
          <a:ln xmlns:a="http://schemas.openxmlformats.org/drawingml/2006/main" w="9525">
            <a:solidFill>
              <a:srgbClr val="6A84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建筑与城市</a:t>
            </a:r>
          </a:p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形态参数化</a:t>
            </a:r>
          </a:p>
        </p:txBody>
      </p:sp>
      <p:sp>
        <p:nvSpPr>
          <p:cNvPr id="10" name="bridge-twin">
            <a:extLst xmlns:a="http://schemas.openxmlformats.org/drawingml/2006/main">
              <a:ext uri="{FF2B5EF4-FFF2-40B4-BE49-F238E27FC236}">
                <a16:creationId xmlns:a16="http://schemas.microsoft.com/office/drawing/2014/main" id="{880BFC5B-BBC0-4E7B-A984-52DFC06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6C91"/>
          </a:solidFill>
          <a:ln xmlns:a="http://schemas.openxmlformats.org/drawingml/2006/main" w="9525">
            <a:solidFill>
              <a:srgbClr val="506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BIM /</a:t>
            </a:r>
          </a:p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知识图谱 /</a:t>
            </a:r>
          </a:p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数字孪生</a:t>
            </a:r>
          </a:p>
        </p:txBody>
      </p:sp>
      <p:sp>
        <p:nvSpPr>
          <p:cNvPr id="11" name="bridge-cfd">
            <a:extLst xmlns:a="http://schemas.openxmlformats.org/drawingml/2006/main">
              <a:ext uri="{FF2B5EF4-FFF2-40B4-BE49-F238E27FC236}">
                <a16:creationId xmlns:a16="http://schemas.microsoft.com/office/drawing/2014/main" id="{3A29A0C3-7467-400D-81AD-9A53C303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246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4A8"/>
          </a:solidFill>
          <a:ln xmlns:a="http://schemas.openxmlformats.org/drawingml/2006/main" w="9525">
            <a:solidFill>
              <a:srgbClr val="6A84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拟学习：</a:t>
            </a:r>
          </a:p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CFD 与</a:t>
            </a:r>
          </a:p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LBM-LES</a:t>
            </a:r>
          </a:p>
        </p:txBody>
      </p:sp>
      <p:sp>
        <p:nvSpPr>
          <p:cNvPr id="12" name="bridge-agent">
            <a:extLst xmlns:a="http://schemas.openxmlformats.org/drawingml/2006/main">
              <a:ext uri="{FF2B5EF4-FFF2-40B4-BE49-F238E27FC236}">
                <a16:creationId xmlns:a16="http://schemas.microsoft.com/office/drawing/2014/main" id="{E57A63FF-E223-4857-9EE3-3A0EC060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8191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4A8"/>
          </a:solidFill>
          <a:ln xmlns:a="http://schemas.openxmlformats.org/drawingml/2006/main" w="9525">
            <a:solidFill>
              <a:srgbClr val="6A84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DF8"/>
                </a:solidFill>
              </a:defRPr>
            </a:pPr>
            <a:r>
              <a:rPr sz="1163" b="1">
                <a:solidFill>
                  <a:srgbClr val="FFFDF8"/>
                </a:solidFill>
              </a:rPr>
              <a:t>多智能体</a:t>
            </a:r>
          </a:p>
          <a:p xmlns:a="http://schemas.openxmlformats.org/drawingml/2006/main">
            <a:pPr algn="ctr">
              <a:defRPr sz="1163" b="1">
                <a:solidFill>
                  <a:srgbClr val="FFFDF8"/>
                </a:solidFill>
              </a:defRPr>
            </a:pPr>
            <a:r>
              <a:rPr sz="1163" b="1">
                <a:solidFill>
                  <a:srgbClr val="FFFDF8"/>
                </a:solidFill>
              </a:rPr>
              <a:t>任务规划</a:t>
            </a:r>
          </a:p>
        </p:txBody>
      </p:sp>
      <p:sp>
        <p:nvSpPr>
          <p:cNvPr id="13" name="han-research">
            <a:extLst xmlns:a="http://schemas.openxmlformats.org/drawingml/2006/main">
              <a:ext uri="{FF2B5EF4-FFF2-40B4-BE49-F238E27FC236}">
                <a16:creationId xmlns:a16="http://schemas.microsoft.com/office/drawing/2014/main" id="{ABBF7B1A-F75A-44F2-A0A1-5F3A4FBA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20955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9525">
            <a:solidFill>
              <a:srgbClr val="6963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韩老师</a:t>
            </a:r>
          </a:p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公开研究</a:t>
            </a:r>
          </a:p>
        </p:txBody>
      </p:sp>
      <p:sp>
        <p:nvSpPr>
          <p:cNvPr id="14" name="low-altitude-interest">
            <a:extLst xmlns:a="http://schemas.openxmlformats.org/drawingml/2006/main">
              <a:ext uri="{FF2B5EF4-FFF2-40B4-BE49-F238E27FC236}">
                <a16:creationId xmlns:a16="http://schemas.microsoft.com/office/drawing/2014/main" id="{42C23A44-ED72-47E5-95F9-2F9DFD6B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3341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5448"/>
          </a:solidFill>
          <a:ln xmlns:a="http://schemas.openxmlformats.org/drawingml/2006/main" w="9525">
            <a:solidFill>
              <a:srgbClr val="A954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个人拟</a:t>
            </a:r>
          </a:p>
          <a:p xmlns:a="http://schemas.openxmlformats.org/drawingml/2006/main"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拓展兴趣</a:t>
            </a:r>
          </a:p>
        </p:txBody>
      </p:sp>
      <p:cxnSp>
        <p:nvCxnSpPr>
          <p:cNvPr id="133" name=""/>
          <p:cNvCxnSpPr>
            <a:stCxn xmlns:a="http://schemas.openxmlformats.org/drawingml/2006/main" id="3" idx="0"/>
            <a:endCxn xmlns:a="http://schemas.openxmlformats.org/drawingml/2006/main" id="5" idx="4"/>
          </p:cNvCxnSpPr>
          <p:nvPr/>
        </p:nvCxnSpPr>
        <p:spPr>
          <a:xfrm xmlns:a="http://schemas.openxmlformats.org/drawingml/2006/main" flipH="1" flipV="1">
            <a:off x="4076700" y="3181350"/>
            <a:ext cx="85725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78882"/>
            </a:solidFill>
            <a:prstDash val="solid"/>
          </a:ln>
        </p:spPr>
      </p:cxnSp>
      <p:cxnSp>
        <p:nvCxnSpPr>
          <p:cNvPr id="134" name=""/>
          <p:cNvCxnSpPr>
            <a:stCxn xmlns:a="http://schemas.openxmlformats.org/drawingml/2006/main" id="3" idx="2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3324225" y="5238750"/>
            <a:ext cx="371475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58662"/>
            </a:solidFill>
            <a:prstDash val="solid"/>
          </a:ln>
        </p:spPr>
      </p:cxnSp>
      <p:cxnSp>
        <p:nvCxnSpPr>
          <p:cNvPr id="135" name=""/>
          <p:cNvCxnSpPr>
            <a:stCxn xmlns:a="http://schemas.openxmlformats.org/drawingml/2006/main" id="3" idx="4"/>
            <a:endCxn xmlns:a="http://schemas.openxmlformats.org/drawingml/2006/main" id="7" idx="6"/>
          </p:cNvCxnSpPr>
          <p:nvPr/>
        </p:nvCxnSpPr>
        <p:spPr>
          <a:xfrm xmlns:a="http://schemas.openxmlformats.org/drawingml/2006/main" flipH="1">
            <a:off x="4162425" y="6477000"/>
            <a:ext cx="771525" cy="1819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58662"/>
            </a:solidFill>
            <a:prstDash val="solid"/>
          </a:ln>
        </p:spPr>
      </p:cxnSp>
      <p:cxnSp>
        <p:nvCxnSpPr>
          <p:cNvPr id="136" name=""/>
          <p:cNvCxnSpPr>
            <a:stCxn xmlns:a="http://schemas.openxmlformats.org/drawingml/2006/main" id="3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172200" y="2047875"/>
            <a:ext cx="733425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37" name=""/>
          <p:cNvCxnSpPr>
            <a:stCxn xmlns:a="http://schemas.openxmlformats.org/drawingml/2006/main" id="8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8048625" y="2047875"/>
            <a:ext cx="885825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38" name=""/>
          <p:cNvCxnSpPr>
            <a:stCxn xmlns:a="http://schemas.openxmlformats.org/drawingml/2006/main" id="3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6172200" y="3762375"/>
            <a:ext cx="638175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39" name=""/>
          <p:cNvCxnSpPr>
            <a:stCxn xmlns:a="http://schemas.openxmlformats.org/drawingml/2006/main" id="9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8048625" y="3762375"/>
            <a:ext cx="885825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0" name=""/>
          <p:cNvCxnSpPr>
            <a:stCxn xmlns:a="http://schemas.openxmlformats.org/drawingml/2006/main" id="3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6172200" y="5238750"/>
            <a:ext cx="6858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1" name=""/>
          <p:cNvCxnSpPr>
            <a:stCxn xmlns:a="http://schemas.openxmlformats.org/drawingml/2006/main" id="10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8001000" y="5286375"/>
            <a:ext cx="9334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2" name=""/>
          <p:cNvCxnSpPr>
            <a:stCxn xmlns:a="http://schemas.openxmlformats.org/drawingml/2006/main" id="3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6172200" y="5238750"/>
            <a:ext cx="685800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3" name=""/>
          <p:cNvCxnSpPr>
            <a:stCxn xmlns:a="http://schemas.openxmlformats.org/drawingml/2006/main" id="11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8001000" y="5286375"/>
            <a:ext cx="93345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4" name=""/>
          <p:cNvCxnSpPr>
            <a:stCxn xmlns:a="http://schemas.openxmlformats.org/drawingml/2006/main" id="3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6172200" y="5238750"/>
            <a:ext cx="733425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5" name=""/>
          <p:cNvCxnSpPr>
            <a:stCxn xmlns:a="http://schemas.openxmlformats.org/drawingml/2006/main" id="12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8048625" y="5286375"/>
            <a:ext cx="885825" cy="34766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A9AFB5"/>
            </a:solidFill>
            <a:prstDash val="solid"/>
          </a:ln>
        </p:spPr>
      </p:cxnSp>
      <p:cxnSp>
        <p:nvCxnSpPr>
          <p:cNvPr id="146" name=""/>
          <p:cNvCxnSpPr>
            <a:stCxn xmlns:a="http://schemas.openxmlformats.org/drawingml/2006/main" id="8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429500" y="2619375"/>
            <a:ext cx="47625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06C91"/>
            </a:solidFill>
            <a:prstDash val="dash"/>
          </a:ln>
        </p:spPr>
      </p:cxnSp>
      <p:cxnSp>
        <p:nvCxnSpPr>
          <p:cNvPr id="147" name=""/>
          <p:cNvCxnSpPr>
            <a:stCxn xmlns:a="http://schemas.openxmlformats.org/drawingml/2006/main" id="9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429500" y="43815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06C91"/>
            </a:solidFill>
            <a:prstDash val="dash"/>
          </a:ln>
        </p:spPr>
      </p:cxnSp>
      <p:cxnSp>
        <p:nvCxnSpPr>
          <p:cNvPr id="148" name=""/>
          <p:cNvCxnSpPr>
            <a:stCxn xmlns:a="http://schemas.openxmlformats.org/drawingml/2006/main" id="10" idx="4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429500" y="6000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06C91"/>
            </a:solidFill>
            <a:prstDash val="dash"/>
          </a:ln>
        </p:spPr>
      </p:cxnSp>
      <p:cxnSp>
        <p:nvCxnSpPr>
          <p:cNvPr id="149" name=""/>
          <p:cNvCxnSpPr>
            <a:stCxn xmlns:a="http://schemas.openxmlformats.org/drawingml/2006/main" id="11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429500" y="7667625"/>
            <a:ext cx="47625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06C91"/>
            </a:solidFill>
            <a:prstDash val="dash"/>
          </a:ln>
        </p:spPr>
      </p:cxnSp>
      <p:cxnSp>
        <p:nvCxnSpPr>
          <p:cNvPr id="150" name=""/>
          <p:cNvCxnSpPr>
            <a:stCxn xmlns:a="http://schemas.openxmlformats.org/drawingml/2006/main" id="4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11601450" y="2657475"/>
            <a:ext cx="257175" cy="26289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9638F"/>
            </a:solidFill>
            <a:prstDash val="solid"/>
          </a:ln>
        </p:spPr>
      </p:cxnSp>
      <p:cxnSp>
        <p:nvCxnSpPr>
          <p:cNvPr id="151" name=""/>
          <p:cNvCxnSpPr>
            <a:stCxn xmlns:a="http://schemas.openxmlformats.org/drawingml/2006/main" id="4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1601450" y="5286375"/>
            <a:ext cx="257175" cy="1609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5448"/>
            </a:solidFill>
            <a:prstDash val="dash"/>
          </a:ln>
        </p:spPr>
      </p:cxnSp>
      <p:sp>
        <p:nvSpPr>
          <p:cNvPr id="34" name="env-label-1">
            <a:extLst xmlns:a="http://schemas.openxmlformats.org/drawingml/2006/main">
              <a:ext uri="{FF2B5EF4-FFF2-40B4-BE49-F238E27FC236}">
                <a16:creationId xmlns:a16="http://schemas.microsoft.com/office/drawing/2014/main" id="{3B0D56AE-53BD-42E7-8095-EB6E5B30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建筑设计 1—6 均分 90+</a:t>
            </a:r>
          </a:p>
        </p:txBody>
      </p:sp>
      <p:sp>
        <p:nvSpPr>
          <p:cNvPr id="35" name="env-dot-1">
            <a:extLst xmlns:a="http://schemas.openxmlformats.org/drawingml/2006/main">
              <a:ext uri="{FF2B5EF4-FFF2-40B4-BE49-F238E27FC236}">
                <a16:creationId xmlns:a16="http://schemas.microsoft.com/office/drawing/2014/main" id="{2D808F23-AB7D-4798-AC1F-DF3B7B3B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28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54" name=""/>
          <p:cNvCxnSpPr>
            <a:stCxn xmlns:a="http://schemas.openxmlformats.org/drawingml/2006/main" id="35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219450" y="1476375"/>
            <a:ext cx="25717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37" name="env-label-2">
            <a:extLst xmlns:a="http://schemas.openxmlformats.org/drawingml/2006/main">
              <a:ext uri="{FF2B5EF4-FFF2-40B4-BE49-F238E27FC236}">
                <a16:creationId xmlns:a16="http://schemas.microsoft.com/office/drawing/2014/main" id="{4DB626A2-0C00-4525-AC2C-AD62C9F8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95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建筑物理：热工、声光、实验</a:t>
            </a:r>
          </a:p>
        </p:txBody>
      </p:sp>
      <p:sp>
        <p:nvSpPr>
          <p:cNvPr id="38" name="env-dot-2">
            <a:extLst xmlns:a="http://schemas.openxmlformats.org/drawingml/2006/main">
              <a:ext uri="{FF2B5EF4-FFF2-40B4-BE49-F238E27FC236}">
                <a16:creationId xmlns:a16="http://schemas.microsoft.com/office/drawing/2014/main" id="{C9C9E7E4-A3C7-459E-8B90-2BD5B8D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57" name=""/>
          <p:cNvCxnSpPr>
            <a:stCxn xmlns:a="http://schemas.openxmlformats.org/drawingml/2006/main" id="38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219450" y="1819275"/>
            <a:ext cx="2571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40" name="env-label-3">
            <a:extLst xmlns:a="http://schemas.openxmlformats.org/drawingml/2006/main">
              <a:ext uri="{FF2B5EF4-FFF2-40B4-BE49-F238E27FC236}">
                <a16:creationId xmlns:a16="http://schemas.microsoft.com/office/drawing/2014/main" id="{46D4F763-3B9A-458D-B8DC-53AD3462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38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绿色建筑与性能分析</a:t>
            </a:r>
          </a:p>
        </p:txBody>
      </p:sp>
      <p:sp>
        <p:nvSpPr>
          <p:cNvPr id="41" name="env-dot-3">
            <a:extLst xmlns:a="http://schemas.openxmlformats.org/drawingml/2006/main">
              <a:ext uri="{FF2B5EF4-FFF2-40B4-BE49-F238E27FC236}">
                <a16:creationId xmlns:a16="http://schemas.microsoft.com/office/drawing/2014/main" id="{71F59501-312B-4873-828C-09CD8A8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60" name=""/>
          <p:cNvCxnSpPr>
            <a:stCxn xmlns:a="http://schemas.openxmlformats.org/drawingml/2006/main" id="41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219450" y="2162175"/>
            <a:ext cx="257175" cy="419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43" name="env-label-4">
            <a:extLst xmlns:a="http://schemas.openxmlformats.org/drawingml/2006/main">
              <a:ext uri="{FF2B5EF4-FFF2-40B4-BE49-F238E27FC236}">
                <a16:creationId xmlns:a16="http://schemas.microsoft.com/office/drawing/2014/main" id="{A595E6DC-3945-4CA1-8F3C-43F67CA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椰壳围护结构与建筑能耗</a:t>
            </a:r>
          </a:p>
        </p:txBody>
      </p:sp>
      <p:sp>
        <p:nvSpPr>
          <p:cNvPr id="44" name="env-dot-4">
            <a:extLst xmlns:a="http://schemas.openxmlformats.org/drawingml/2006/main">
              <a:ext uri="{FF2B5EF4-FFF2-40B4-BE49-F238E27FC236}">
                <a16:creationId xmlns:a16="http://schemas.microsoft.com/office/drawing/2014/main" id="{BBF747CB-4CA2-496A-AE8F-00978915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63" name=""/>
          <p:cNvCxnSpPr>
            <a:stCxn xmlns:a="http://schemas.openxmlformats.org/drawingml/2006/main" id="4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219450" y="2505075"/>
            <a:ext cx="257175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46" name="env-label-5">
            <a:extLst xmlns:a="http://schemas.openxmlformats.org/drawingml/2006/main">
              <a:ext uri="{FF2B5EF4-FFF2-40B4-BE49-F238E27FC236}">
                <a16:creationId xmlns:a16="http://schemas.microsoft.com/office/drawing/2014/main" id="{5C7F60D5-76DA-42D0-BCBF-178FF589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海岛热湿气候与传热传湿</a:t>
            </a:r>
          </a:p>
        </p:txBody>
      </p:sp>
      <p:sp>
        <p:nvSpPr>
          <p:cNvPr id="47" name="env-dot-5">
            <a:extLst xmlns:a="http://schemas.openxmlformats.org/drawingml/2006/main">
              <a:ext uri="{FF2B5EF4-FFF2-40B4-BE49-F238E27FC236}">
                <a16:creationId xmlns:a16="http://schemas.microsoft.com/office/drawing/2014/main" id="{2F7C5440-23A8-4320-9668-3DCB87A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66" name=""/>
          <p:cNvCxnSpPr>
            <a:stCxn xmlns:a="http://schemas.openxmlformats.org/drawingml/2006/main" id="47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219450" y="2581275"/>
            <a:ext cx="25717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49" name="env-label-6">
            <a:extLst xmlns:a="http://schemas.openxmlformats.org/drawingml/2006/main">
              <a:ext uri="{FF2B5EF4-FFF2-40B4-BE49-F238E27FC236}">
                <a16:creationId xmlns:a16="http://schemas.microsoft.com/office/drawing/2014/main" id="{7DD2325F-E2A6-4F2F-A6CD-687229D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垂直绿化光伏一体化外墙</a:t>
            </a:r>
          </a:p>
        </p:txBody>
      </p:sp>
      <p:sp>
        <p:nvSpPr>
          <p:cNvPr id="50" name="env-dot-6">
            <a:extLst xmlns:a="http://schemas.openxmlformats.org/drawingml/2006/main">
              <a:ext uri="{FF2B5EF4-FFF2-40B4-BE49-F238E27FC236}">
                <a16:creationId xmlns:a16="http://schemas.microsoft.com/office/drawing/2014/main" id="{F1792403-BA22-4CB8-98D8-F59A9CD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50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219450" y="2581275"/>
            <a:ext cx="2571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52" name="env-label-7">
            <a:extLst xmlns:a="http://schemas.openxmlformats.org/drawingml/2006/main">
              <a:ext uri="{FF2B5EF4-FFF2-40B4-BE49-F238E27FC236}">
                <a16:creationId xmlns:a16="http://schemas.microsoft.com/office/drawing/2014/main" id="{E81D6FA5-4ED1-4612-87D6-80EFDD8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09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22252B"/>
                </a:solidFill>
              </a:defRPr>
            </a:pPr>
            <a:r>
              <a:rPr sz="1275" b="0">
                <a:solidFill>
                  <a:srgbClr val="22252B"/>
                </a:solidFill>
              </a:rPr>
              <a:t>绿色建筑竞赛一等奖</a:t>
            </a:r>
          </a:p>
        </p:txBody>
      </p:sp>
      <p:sp>
        <p:nvSpPr>
          <p:cNvPr id="53" name="env-dot-7">
            <a:extLst xmlns:a="http://schemas.openxmlformats.org/drawingml/2006/main">
              <a:ext uri="{FF2B5EF4-FFF2-40B4-BE49-F238E27FC236}">
                <a16:creationId xmlns:a16="http://schemas.microsoft.com/office/drawing/2014/main" id="{6C1E5D14-6D89-408D-A23C-E354075E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A77"/>
          </a:solidFill>
          <a:ln xmlns:a="http://schemas.openxmlformats.org/drawingml/2006/main" w="4763">
            <a:solidFill>
              <a:srgbClr val="708A77"/>
            </a:solidFill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53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219450" y="2581275"/>
            <a:ext cx="25717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5978C"/>
            </a:solidFill>
            <a:prstDash val="solid"/>
          </a:ln>
        </p:spPr>
      </p:cxnSp>
      <p:sp>
        <p:nvSpPr>
          <p:cNvPr id="55" name="digital-label-1">
            <a:extLst xmlns:a="http://schemas.openxmlformats.org/drawingml/2006/main">
              <a:ext uri="{FF2B5EF4-FFF2-40B4-BE49-F238E27FC236}">
                <a16:creationId xmlns:a16="http://schemas.microsoft.com/office/drawing/2014/main" id="{22CE63A7-2FE5-40C2-9BA6-C8562AE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4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Revit / BIM / SketchUp</a:t>
            </a:r>
          </a:p>
        </p:txBody>
      </p:sp>
      <p:sp>
        <p:nvSpPr>
          <p:cNvPr id="56" name="digital-dot-1">
            <a:extLst xmlns:a="http://schemas.openxmlformats.org/drawingml/2006/main">
              <a:ext uri="{FF2B5EF4-FFF2-40B4-BE49-F238E27FC236}">
                <a16:creationId xmlns:a16="http://schemas.microsoft.com/office/drawing/2014/main" id="{240D8154-2C4A-4E0D-B606-2BC5A20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56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171700" y="5667375"/>
            <a:ext cx="161925" cy="6381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58" name="digital-label-2">
            <a:extLst xmlns:a="http://schemas.openxmlformats.org/drawingml/2006/main">
              <a:ext uri="{FF2B5EF4-FFF2-40B4-BE49-F238E27FC236}">
                <a16:creationId xmlns:a16="http://schemas.microsoft.com/office/drawing/2014/main" id="{92198FDB-4B5C-444C-A09E-1D21EBC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924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Rhino / Grasshopper</a:t>
            </a:r>
          </a:p>
        </p:txBody>
      </p:sp>
      <p:sp>
        <p:nvSpPr>
          <p:cNvPr id="59" name="digital-dot-2">
            <a:extLst xmlns:a="http://schemas.openxmlformats.org/drawingml/2006/main">
              <a:ext uri="{FF2B5EF4-FFF2-40B4-BE49-F238E27FC236}">
                <a16:creationId xmlns:a16="http://schemas.microsoft.com/office/drawing/2014/main" id="{08EFA785-06C9-4961-B36B-6C8879E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78" name=""/>
          <p:cNvCxnSpPr>
            <a:stCxn xmlns:a="http://schemas.openxmlformats.org/drawingml/2006/main" id="59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171700" y="6048375"/>
            <a:ext cx="16192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61" name="digital-label-3">
            <a:extLst xmlns:a="http://schemas.openxmlformats.org/drawingml/2006/main">
              <a:ext uri="{FF2B5EF4-FFF2-40B4-BE49-F238E27FC236}">
                <a16:creationId xmlns:a16="http://schemas.microsoft.com/office/drawing/2014/main" id="{6D9988FC-1028-4A6F-9F29-0C33EFF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05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Python / NumPy / Pandas</a:t>
            </a:r>
          </a:p>
        </p:txBody>
      </p:sp>
      <p:sp>
        <p:nvSpPr>
          <p:cNvPr id="62" name="digital-dot-3">
            <a:extLst xmlns:a="http://schemas.openxmlformats.org/drawingml/2006/main">
              <a:ext uri="{FF2B5EF4-FFF2-40B4-BE49-F238E27FC236}">
                <a16:creationId xmlns:a16="http://schemas.microsoft.com/office/drawing/2014/main" id="{24B12B06-6335-427B-9CA5-9C41BB8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8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62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171700" y="6305550"/>
            <a:ext cx="16192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64" name="digital-label-4">
            <a:extLst xmlns:a="http://schemas.openxmlformats.org/drawingml/2006/main">
              <a:ext uri="{FF2B5EF4-FFF2-40B4-BE49-F238E27FC236}">
                <a16:creationId xmlns:a16="http://schemas.microsoft.com/office/drawing/2014/main" id="{6A087482-4752-41B6-9181-B5E46BC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86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数学建模与数据分析</a:t>
            </a:r>
          </a:p>
        </p:txBody>
      </p:sp>
      <p:sp>
        <p:nvSpPr>
          <p:cNvPr id="65" name="digital-dot-4">
            <a:extLst xmlns:a="http://schemas.openxmlformats.org/drawingml/2006/main">
              <a:ext uri="{FF2B5EF4-FFF2-40B4-BE49-F238E27FC236}">
                <a16:creationId xmlns:a16="http://schemas.microsoft.com/office/drawing/2014/main" id="{75369200-1E91-4E1A-9569-72166764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76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84" name=""/>
          <p:cNvCxnSpPr>
            <a:stCxn xmlns:a="http://schemas.openxmlformats.org/drawingml/2006/main" id="6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171700" y="6305550"/>
            <a:ext cx="16192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67" name="research-label-1">
            <a:extLst xmlns:a="http://schemas.openxmlformats.org/drawingml/2006/main">
              <a:ext uri="{FF2B5EF4-FFF2-40B4-BE49-F238E27FC236}">
                <a16:creationId xmlns:a16="http://schemas.microsoft.com/office/drawing/2014/main" id="{C7835580-2E18-49DA-86C4-099FA3C7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7343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52B"/>
                </a:solidFill>
              </a:defRPr>
            </a:pPr>
            <a:r>
              <a:rPr sz="1200" b="0">
                <a:solidFill>
                  <a:srgbClr val="22252B"/>
                </a:solidFill>
              </a:rPr>
              <a:t>建筑遗产本体知识图谱</a:t>
            </a:r>
          </a:p>
        </p:txBody>
      </p:sp>
      <p:sp>
        <p:nvSpPr>
          <p:cNvPr id="68" name="research-dot-1">
            <a:extLst xmlns:a="http://schemas.openxmlformats.org/drawingml/2006/main">
              <a:ext uri="{FF2B5EF4-FFF2-40B4-BE49-F238E27FC236}">
                <a16:creationId xmlns:a16="http://schemas.microsoft.com/office/drawing/2014/main" id="{6496205B-3200-48CA-A9D1-4885A8D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81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87" name=""/>
          <p:cNvCxnSpPr>
            <a:stCxn xmlns:a="http://schemas.openxmlformats.org/drawingml/2006/main" id="68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19375" y="7858125"/>
            <a:ext cx="4762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70" name="research-label-2">
            <a:extLst xmlns:a="http://schemas.openxmlformats.org/drawingml/2006/main">
              <a:ext uri="{FF2B5EF4-FFF2-40B4-BE49-F238E27FC236}">
                <a16:creationId xmlns:a16="http://schemas.microsoft.com/office/drawing/2014/main" id="{50383F1F-7E1B-4422-B74A-A7223C1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629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52B"/>
                </a:solidFill>
              </a:defRPr>
            </a:pPr>
            <a:r>
              <a:rPr sz="1200" b="0">
                <a:solidFill>
                  <a:srgbClr val="22252B"/>
                </a:solidFill>
              </a:rPr>
              <a:t>台风后恢复多智能体协同</a:t>
            </a:r>
          </a:p>
        </p:txBody>
      </p:sp>
      <p:sp>
        <p:nvSpPr>
          <p:cNvPr id="71" name="research-dot-2">
            <a:extLst xmlns:a="http://schemas.openxmlformats.org/drawingml/2006/main">
              <a:ext uri="{FF2B5EF4-FFF2-40B4-BE49-F238E27FC236}">
                <a16:creationId xmlns:a16="http://schemas.microsoft.com/office/drawing/2014/main" id="{30F01685-C2F2-42AC-848A-46009DA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23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90" name=""/>
          <p:cNvCxnSpPr>
            <a:stCxn xmlns:a="http://schemas.openxmlformats.org/drawingml/2006/main" id="7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19375" y="8286750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73" name="research-label-3">
            <a:extLst xmlns:a="http://schemas.openxmlformats.org/drawingml/2006/main">
              <a:ext uri="{FF2B5EF4-FFF2-40B4-BE49-F238E27FC236}">
                <a16:creationId xmlns:a16="http://schemas.microsoft.com/office/drawing/2014/main" id="{B04EA3A0-0862-424A-B2C9-53E46DBD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915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52B"/>
                </a:solidFill>
              </a:defRPr>
            </a:pPr>
            <a:r>
              <a:rPr sz="1200" b="0">
                <a:solidFill>
                  <a:srgbClr val="22252B"/>
                </a:solidFill>
              </a:rPr>
              <a:t>多源证据治理与约束识别</a:t>
            </a:r>
          </a:p>
        </p:txBody>
      </p:sp>
      <p:sp>
        <p:nvSpPr>
          <p:cNvPr id="74" name="research-dot-3">
            <a:extLst xmlns:a="http://schemas.openxmlformats.org/drawingml/2006/main">
              <a:ext uri="{FF2B5EF4-FFF2-40B4-BE49-F238E27FC236}">
                <a16:creationId xmlns:a16="http://schemas.microsoft.com/office/drawing/2014/main" id="{E0EE35D4-5CAD-4668-B0B8-1F3F4BDC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866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C50"/>
          </a:solidFill>
          <a:ln xmlns:a="http://schemas.openxmlformats.org/drawingml/2006/main" w="4763">
            <a:solidFill>
              <a:srgbClr val="A78C50"/>
            </a:solidFill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7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619375" y="8296275"/>
            <a:ext cx="4762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79568"/>
            </a:solidFill>
            <a:prstDash val="solid"/>
          </a:ln>
        </p:spPr>
      </p:cxnSp>
      <p:sp>
        <p:nvSpPr>
          <p:cNvPr id="76" name="han-dot-1">
            <a:extLst xmlns:a="http://schemas.openxmlformats.org/drawingml/2006/main">
              <a:ext uri="{FF2B5EF4-FFF2-40B4-BE49-F238E27FC236}">
                <a16:creationId xmlns:a16="http://schemas.microsoft.com/office/drawing/2014/main" id="{D5C49830-A93A-40DB-97EB-57380BA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4763">
            <a:solidFill>
              <a:srgbClr val="69638F"/>
            </a:solidFill>
            <a:prstDash val="solid"/>
          </a:ln>
        </p:spPr>
      </p:sp>
      <p:cxnSp>
        <p:nvCxnSpPr>
          <p:cNvPr id="195" name=""/>
          <p:cNvCxnSpPr>
            <a:stCxn xmlns:a="http://schemas.openxmlformats.org/drawingml/2006/main" id="13" idx="6"/>
            <a:endCxn xmlns:a="http://schemas.openxmlformats.org/drawingml/2006/main" id="76" idx="2"/>
          </p:cNvCxnSpPr>
          <p:nvPr/>
        </p:nvCxnSpPr>
        <p:spPr>
          <a:xfrm xmlns:a="http://schemas.openxmlformats.org/drawingml/2006/main" flipV="1">
            <a:off x="12982575" y="1619250"/>
            <a:ext cx="257175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9638F"/>
            </a:solidFill>
            <a:prstDash val="solid"/>
          </a:ln>
        </p:spPr>
      </p:cxnSp>
      <p:sp>
        <p:nvSpPr>
          <p:cNvPr id="78" name="han-label-1">
            <a:extLst xmlns:a="http://schemas.openxmlformats.org/drawingml/2006/main">
              <a:ext uri="{FF2B5EF4-FFF2-40B4-BE49-F238E27FC236}">
                <a16:creationId xmlns:a16="http://schemas.microsoft.com/office/drawing/2014/main" id="{B1267A4A-5F2E-40C0-B44F-78D8982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4954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城市与建筑风环境</a:t>
            </a:r>
          </a:p>
        </p:txBody>
      </p:sp>
      <p:sp>
        <p:nvSpPr>
          <p:cNvPr id="79" name="han-dot-2">
            <a:extLst xmlns:a="http://schemas.openxmlformats.org/drawingml/2006/main">
              <a:ext uri="{FF2B5EF4-FFF2-40B4-BE49-F238E27FC236}">
                <a16:creationId xmlns:a16="http://schemas.microsoft.com/office/drawing/2014/main" id="{B285C782-64C6-45EC-95A5-82C34662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4763">
            <a:solidFill>
              <a:srgbClr val="69638F"/>
            </a:solidFill>
            <a:prstDash val="solid"/>
          </a:ln>
        </p:spPr>
      </p:sp>
      <p:cxnSp>
        <p:nvCxnSpPr>
          <p:cNvPr id="198" name=""/>
          <p:cNvCxnSpPr>
            <a:stCxn xmlns:a="http://schemas.openxmlformats.org/drawingml/2006/main" id="13" idx="6"/>
            <a:endCxn xmlns:a="http://schemas.openxmlformats.org/drawingml/2006/main" id="79" idx="2"/>
          </p:cNvCxnSpPr>
          <p:nvPr/>
        </p:nvCxnSpPr>
        <p:spPr>
          <a:xfrm xmlns:a="http://schemas.openxmlformats.org/drawingml/2006/main" flipV="1">
            <a:off x="12982575" y="2047875"/>
            <a:ext cx="2571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9638F"/>
            </a:solidFill>
            <a:prstDash val="solid"/>
          </a:ln>
        </p:spPr>
      </p:cxnSp>
      <p:sp>
        <p:nvSpPr>
          <p:cNvPr id="81" name="han-label-2">
            <a:extLst xmlns:a="http://schemas.openxmlformats.org/drawingml/2006/main">
              <a:ext uri="{FF2B5EF4-FFF2-40B4-BE49-F238E27FC236}">
                <a16:creationId xmlns:a16="http://schemas.microsoft.com/office/drawing/2014/main" id="{519C763A-E91F-4CE5-B7F9-FF1EEA95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924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城市微气候与绿色节能</a:t>
            </a:r>
          </a:p>
        </p:txBody>
      </p:sp>
      <p:sp>
        <p:nvSpPr>
          <p:cNvPr id="82" name="han-dot-3">
            <a:extLst xmlns:a="http://schemas.openxmlformats.org/drawingml/2006/main">
              <a:ext uri="{FF2B5EF4-FFF2-40B4-BE49-F238E27FC236}">
                <a16:creationId xmlns:a16="http://schemas.microsoft.com/office/drawing/2014/main" id="{A6DAC546-B4CD-499F-9DD5-8F5E1BCE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4763">
            <a:solidFill>
              <a:srgbClr val="69638F"/>
            </a:solidFill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13" idx="6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12982575" y="2476500"/>
            <a:ext cx="257175" cy="1809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9638F"/>
            </a:solidFill>
            <a:prstDash val="solid"/>
          </a:ln>
        </p:spPr>
      </p:cxnSp>
      <p:sp>
        <p:nvSpPr>
          <p:cNvPr id="84" name="han-label-3">
            <a:extLst xmlns:a="http://schemas.openxmlformats.org/drawingml/2006/main">
              <a:ext uri="{FF2B5EF4-FFF2-40B4-BE49-F238E27FC236}">
                <a16:creationId xmlns:a16="http://schemas.microsoft.com/office/drawing/2014/main" id="{AC150AA7-4877-417C-9060-DB725B5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526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CFD / LBM-LES</a:t>
            </a:r>
          </a:p>
        </p:txBody>
      </p:sp>
      <p:sp>
        <p:nvSpPr>
          <p:cNvPr id="85" name="han-dot-4">
            <a:extLst xmlns:a="http://schemas.openxmlformats.org/drawingml/2006/main">
              <a:ext uri="{FF2B5EF4-FFF2-40B4-BE49-F238E27FC236}">
                <a16:creationId xmlns:a16="http://schemas.microsoft.com/office/drawing/2014/main" id="{27B36EBE-A426-499B-8354-7A122293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4763">
            <a:solidFill>
              <a:srgbClr val="69638F"/>
            </a:solidFill>
            <a:prstDash val="solid"/>
          </a:ln>
        </p:spPr>
      </p:sp>
      <p:cxnSp>
        <p:nvCxnSpPr>
          <p:cNvPr id="204" name=""/>
          <p:cNvCxnSpPr>
            <a:stCxn xmlns:a="http://schemas.openxmlformats.org/drawingml/2006/main" id="13" idx="6"/>
            <a:endCxn xmlns:a="http://schemas.openxmlformats.org/drawingml/2006/main" id="85" idx="2"/>
          </p:cNvCxnSpPr>
          <p:nvPr/>
        </p:nvCxnSpPr>
        <p:spPr>
          <a:xfrm xmlns:a="http://schemas.openxmlformats.org/drawingml/2006/main">
            <a:off x="12982575" y="2657475"/>
            <a:ext cx="25717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9638F"/>
            </a:solidFill>
            <a:prstDash val="solid"/>
          </a:ln>
        </p:spPr>
      </p:cxnSp>
      <p:sp>
        <p:nvSpPr>
          <p:cNvPr id="87" name="han-label-4">
            <a:extLst xmlns:a="http://schemas.openxmlformats.org/drawingml/2006/main">
              <a:ext uri="{FF2B5EF4-FFF2-40B4-BE49-F238E27FC236}">
                <a16:creationId xmlns:a16="http://schemas.microsoft.com/office/drawing/2014/main" id="{B96F16E4-9997-43CD-A2EF-FB6E3577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7813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室内污染源定位</a:t>
            </a:r>
          </a:p>
        </p:txBody>
      </p:sp>
      <p:sp>
        <p:nvSpPr>
          <p:cNvPr id="88" name="han-dot-5">
            <a:extLst xmlns:a="http://schemas.openxmlformats.org/drawingml/2006/main">
              <a:ext uri="{FF2B5EF4-FFF2-40B4-BE49-F238E27FC236}">
                <a16:creationId xmlns:a16="http://schemas.microsoft.com/office/drawing/2014/main" id="{ACA1A5D5-6C33-4207-B596-6F493E37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4763">
            <a:solidFill>
              <a:srgbClr val="69638F"/>
            </a:solidFill>
            <a:prstDash val="solid"/>
          </a:ln>
        </p:spPr>
      </p:sp>
      <p:cxnSp>
        <p:nvCxnSpPr>
          <p:cNvPr id="207" name=""/>
          <p:cNvCxnSpPr>
            <a:stCxn xmlns:a="http://schemas.openxmlformats.org/drawingml/2006/main" id="13" idx="6"/>
            <a:endCxn xmlns:a="http://schemas.openxmlformats.org/drawingml/2006/main" id="88" idx="2"/>
          </p:cNvCxnSpPr>
          <p:nvPr/>
        </p:nvCxnSpPr>
        <p:spPr>
          <a:xfrm xmlns:a="http://schemas.openxmlformats.org/drawingml/2006/main">
            <a:off x="12982575" y="2657475"/>
            <a:ext cx="257175" cy="6762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9638F"/>
            </a:solidFill>
            <a:prstDash val="solid"/>
          </a:ln>
        </p:spPr>
      </p:cxnSp>
      <p:sp>
        <p:nvSpPr>
          <p:cNvPr id="90" name="han-label-5">
            <a:extLst xmlns:a="http://schemas.openxmlformats.org/drawingml/2006/main">
              <a:ext uri="{FF2B5EF4-FFF2-40B4-BE49-F238E27FC236}">
                <a16:creationId xmlns:a16="http://schemas.microsoft.com/office/drawing/2014/main" id="{CEC01B98-DE98-47DD-9B48-A00D629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209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气溶胶、飞沫与污染物扩散</a:t>
            </a:r>
          </a:p>
        </p:txBody>
      </p:sp>
      <p:sp>
        <p:nvSpPr>
          <p:cNvPr id="91" name="han-dot-6">
            <a:extLst xmlns:a="http://schemas.openxmlformats.org/drawingml/2006/main">
              <a:ext uri="{FF2B5EF4-FFF2-40B4-BE49-F238E27FC236}">
                <a16:creationId xmlns:a16="http://schemas.microsoft.com/office/drawing/2014/main" id="{126524F4-7E82-4097-9370-B69CF11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38F"/>
          </a:solidFill>
          <a:ln xmlns:a="http://schemas.openxmlformats.org/drawingml/2006/main" w="4763">
            <a:solidFill>
              <a:srgbClr val="69638F"/>
            </a:solidFill>
            <a:prstDash val="solid"/>
          </a:ln>
        </p:spPr>
      </p:sp>
      <p:cxnSp>
        <p:nvCxnSpPr>
          <p:cNvPr id="210" name=""/>
          <p:cNvCxnSpPr>
            <a:stCxn xmlns:a="http://schemas.openxmlformats.org/drawingml/2006/main" id="13" idx="6"/>
            <a:endCxn xmlns:a="http://schemas.openxmlformats.org/drawingml/2006/main" id="91" idx="2"/>
          </p:cNvCxnSpPr>
          <p:nvPr/>
        </p:nvCxnSpPr>
        <p:spPr>
          <a:xfrm xmlns:a="http://schemas.openxmlformats.org/drawingml/2006/main">
            <a:off x="12982575" y="2657475"/>
            <a:ext cx="25717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9638F"/>
            </a:solidFill>
            <a:prstDash val="solid"/>
          </a:ln>
        </p:spPr>
      </p:cxnSp>
      <p:sp>
        <p:nvSpPr>
          <p:cNvPr id="93" name="han-label-6">
            <a:extLst xmlns:a="http://schemas.openxmlformats.org/drawingml/2006/main">
              <a:ext uri="{FF2B5EF4-FFF2-40B4-BE49-F238E27FC236}">
                <a16:creationId xmlns:a16="http://schemas.microsoft.com/office/drawing/2014/main" id="{AE4463A2-F88F-418B-85C3-1904293F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385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52B"/>
                </a:solidFill>
              </a:defRPr>
            </a:pPr>
            <a:r>
              <a:rPr sz="1050" b="0">
                <a:solidFill>
                  <a:srgbClr val="22252B"/>
                </a:solidFill>
              </a:rPr>
              <a:t>通风模式与健康风险</a:t>
            </a:r>
          </a:p>
        </p:txBody>
      </p:sp>
      <p:sp>
        <p:nvSpPr>
          <p:cNvPr id="94" name="low-dot-1">
            <a:extLst xmlns:a="http://schemas.openxmlformats.org/drawingml/2006/main">
              <a:ext uri="{FF2B5EF4-FFF2-40B4-BE49-F238E27FC236}">
                <a16:creationId xmlns:a16="http://schemas.microsoft.com/office/drawing/2014/main" id="{3DEE3045-871B-4435-84E6-A39A895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5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14" idx="6"/>
            <a:endCxn xmlns:a="http://schemas.openxmlformats.org/drawingml/2006/main" id="94" idx="2"/>
          </p:cNvCxnSpPr>
          <p:nvPr/>
        </p:nvCxnSpPr>
        <p:spPr>
          <a:xfrm xmlns:a="http://schemas.openxmlformats.org/drawingml/2006/main" flipV="1">
            <a:off x="12982575" y="6000750"/>
            <a:ext cx="257175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96" name="low-label-1">
            <a:extLst xmlns:a="http://schemas.openxmlformats.org/drawingml/2006/main">
              <a:ext uri="{FF2B5EF4-FFF2-40B4-BE49-F238E27FC236}">
                <a16:creationId xmlns:a16="http://schemas.microsoft.com/office/drawing/2014/main" id="{D414DC48-CCDD-4CFB-ACB5-85A9CCCF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876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城市低空微气象与三维风场</a:t>
            </a:r>
          </a:p>
        </p:txBody>
      </p:sp>
      <p:sp>
        <p:nvSpPr>
          <p:cNvPr id="97" name="low-dot-2">
            <a:extLst xmlns:a="http://schemas.openxmlformats.org/drawingml/2006/main">
              <a:ext uri="{FF2B5EF4-FFF2-40B4-BE49-F238E27FC236}">
                <a16:creationId xmlns:a16="http://schemas.microsoft.com/office/drawing/2014/main" id="{0BAB4E55-A332-483C-A6F0-6B7E9040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38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14" idx="6"/>
            <a:endCxn xmlns:a="http://schemas.openxmlformats.org/drawingml/2006/main" id="97" idx="2"/>
          </p:cNvCxnSpPr>
          <p:nvPr/>
        </p:nvCxnSpPr>
        <p:spPr>
          <a:xfrm xmlns:a="http://schemas.openxmlformats.org/drawingml/2006/main" flipV="1">
            <a:off x="12982575" y="6429375"/>
            <a:ext cx="25717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99" name="low-label-2">
            <a:extLst xmlns:a="http://schemas.openxmlformats.org/drawingml/2006/main">
              <a:ext uri="{FF2B5EF4-FFF2-40B4-BE49-F238E27FC236}">
                <a16:creationId xmlns:a16="http://schemas.microsoft.com/office/drawing/2014/main" id="{1B7EE42B-6F2D-4C76-9CDA-1479EDAA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3055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高密度建成环境风扰动安全</a:t>
            </a:r>
          </a:p>
        </p:txBody>
      </p:sp>
      <p:sp>
        <p:nvSpPr>
          <p:cNvPr id="100" name="low-dot-3">
            <a:extLst xmlns:a="http://schemas.openxmlformats.org/drawingml/2006/main">
              <a:ext uri="{FF2B5EF4-FFF2-40B4-BE49-F238E27FC236}">
                <a16:creationId xmlns:a16="http://schemas.microsoft.com/office/drawing/2014/main" id="{2183E100-CF80-4592-9471-BEF7682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81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14" idx="6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12982575" y="6858000"/>
            <a:ext cx="2571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102" name="low-label-3">
            <a:extLst xmlns:a="http://schemas.openxmlformats.org/drawingml/2006/main">
              <a:ext uri="{FF2B5EF4-FFF2-40B4-BE49-F238E27FC236}">
                <a16:creationId xmlns:a16="http://schemas.microsoft.com/office/drawing/2014/main" id="{D7582D03-0233-4A50-B864-9CFDF11B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7341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无人机环境感知与数据融合</a:t>
            </a:r>
          </a:p>
        </p:txBody>
      </p:sp>
      <p:sp>
        <p:nvSpPr>
          <p:cNvPr id="103" name="low-dot-4">
            <a:extLst xmlns:a="http://schemas.openxmlformats.org/drawingml/2006/main">
              <a:ext uri="{FF2B5EF4-FFF2-40B4-BE49-F238E27FC236}">
                <a16:creationId xmlns:a16="http://schemas.microsoft.com/office/drawing/2014/main" id="{4CC40412-1362-4A88-A30D-A06C50B1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23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14" idx="6"/>
            <a:endCxn xmlns:a="http://schemas.openxmlformats.org/drawingml/2006/main" id="103" idx="2"/>
          </p:cNvCxnSpPr>
          <p:nvPr/>
        </p:nvCxnSpPr>
        <p:spPr>
          <a:xfrm xmlns:a="http://schemas.openxmlformats.org/drawingml/2006/main">
            <a:off x="12982575" y="6896100"/>
            <a:ext cx="257175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105" name="low-label-4">
            <a:extLst xmlns:a="http://schemas.openxmlformats.org/drawingml/2006/main">
              <a:ext uri="{FF2B5EF4-FFF2-40B4-BE49-F238E27FC236}">
                <a16:creationId xmlns:a16="http://schemas.microsoft.com/office/drawing/2014/main" id="{48AA4E1D-9A88-4EEE-8D02-826BF4EC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7162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城市低空三维风险地图</a:t>
            </a:r>
          </a:p>
        </p:txBody>
      </p:sp>
      <p:sp>
        <p:nvSpPr>
          <p:cNvPr id="106" name="low-dot-5">
            <a:extLst xmlns:a="http://schemas.openxmlformats.org/drawingml/2006/main">
              <a:ext uri="{FF2B5EF4-FFF2-40B4-BE49-F238E27FC236}">
                <a16:creationId xmlns:a16="http://schemas.microsoft.com/office/drawing/2014/main" id="{19C65AE2-3192-4722-B60A-15B9AFD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66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25" name=""/>
          <p:cNvCxnSpPr>
            <a:stCxn xmlns:a="http://schemas.openxmlformats.org/drawingml/2006/main" id="14" idx="6"/>
            <a:endCxn xmlns:a="http://schemas.openxmlformats.org/drawingml/2006/main" id="106" idx="2"/>
          </p:cNvCxnSpPr>
          <p:nvPr/>
        </p:nvCxnSpPr>
        <p:spPr>
          <a:xfrm xmlns:a="http://schemas.openxmlformats.org/drawingml/2006/main">
            <a:off x="12982575" y="6896100"/>
            <a:ext cx="2571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108" name="low-label-5">
            <a:extLst xmlns:a="http://schemas.openxmlformats.org/drawingml/2006/main">
              <a:ext uri="{FF2B5EF4-FFF2-40B4-BE49-F238E27FC236}">
                <a16:creationId xmlns:a16="http://schemas.microsoft.com/office/drawing/2014/main" id="{4A875134-321F-4ECA-A09C-1636F1F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75914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安全航路规划与动态调度</a:t>
            </a:r>
          </a:p>
        </p:txBody>
      </p:sp>
      <p:sp>
        <p:nvSpPr>
          <p:cNvPr id="109" name="low-dot-6">
            <a:extLst xmlns:a="http://schemas.openxmlformats.org/drawingml/2006/main">
              <a:ext uri="{FF2B5EF4-FFF2-40B4-BE49-F238E27FC236}">
                <a16:creationId xmlns:a16="http://schemas.microsoft.com/office/drawing/2014/main" id="{E329D317-0250-4260-AA4D-BD8DDBF2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09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28" name=""/>
          <p:cNvCxnSpPr>
            <a:stCxn xmlns:a="http://schemas.openxmlformats.org/drawingml/2006/main" id="14" idx="6"/>
            <a:endCxn xmlns:a="http://schemas.openxmlformats.org/drawingml/2006/main" id="109" idx="2"/>
          </p:cNvCxnSpPr>
          <p:nvPr/>
        </p:nvCxnSpPr>
        <p:spPr>
          <a:xfrm xmlns:a="http://schemas.openxmlformats.org/drawingml/2006/main">
            <a:off x="12982575" y="6896100"/>
            <a:ext cx="257175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111" name="low-label-6">
            <a:extLst xmlns:a="http://schemas.openxmlformats.org/drawingml/2006/main">
              <a:ext uri="{FF2B5EF4-FFF2-40B4-BE49-F238E27FC236}">
                <a16:creationId xmlns:a16="http://schemas.microsoft.com/office/drawing/2014/main" id="{E29EE02C-2DD8-41DE-8D97-1079EAF4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020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建筑外墙与灾后应急巡检</a:t>
            </a:r>
          </a:p>
        </p:txBody>
      </p:sp>
      <p:sp>
        <p:nvSpPr>
          <p:cNvPr id="112" name="low-dot-7">
            <a:extLst xmlns:a="http://schemas.openxmlformats.org/drawingml/2006/main">
              <a:ext uri="{FF2B5EF4-FFF2-40B4-BE49-F238E27FC236}">
                <a16:creationId xmlns:a16="http://schemas.microsoft.com/office/drawing/2014/main" id="{5ECBF495-3A9F-4DC3-9CB1-57B8EC0E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52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6B5D"/>
          </a:solidFill>
          <a:ln xmlns:a="http://schemas.openxmlformats.org/drawingml/2006/main" w="4763">
            <a:solidFill>
              <a:srgbClr val="B06B5D"/>
            </a:solidFill>
            <a:prstDash val="solid"/>
          </a:ln>
        </p:spPr>
      </p:sp>
      <p:cxnSp>
        <p:nvCxnSpPr>
          <p:cNvPr id="231" name=""/>
          <p:cNvCxnSpPr>
            <a:stCxn xmlns:a="http://schemas.openxmlformats.org/drawingml/2006/main" id="14" idx="6"/>
            <a:endCxn xmlns:a="http://schemas.openxmlformats.org/drawingml/2006/main" id="112" idx="2"/>
          </p:cNvCxnSpPr>
          <p:nvPr/>
        </p:nvCxnSpPr>
        <p:spPr>
          <a:xfrm xmlns:a="http://schemas.openxmlformats.org/drawingml/2006/main">
            <a:off x="12982575" y="6896100"/>
            <a:ext cx="257175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95448"/>
            </a:solidFill>
            <a:prstDash val="dash"/>
          </a:ln>
        </p:spPr>
      </p:cxnSp>
      <p:sp>
        <p:nvSpPr>
          <p:cNvPr id="114" name="low-label-7">
            <a:extLst xmlns:a="http://schemas.openxmlformats.org/drawingml/2006/main">
              <a:ext uri="{FF2B5EF4-FFF2-40B4-BE49-F238E27FC236}">
                <a16:creationId xmlns:a16="http://schemas.microsoft.com/office/drawing/2014/main" id="{213C9593-AF3A-4122-9BB8-5F8DE68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4486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52B"/>
                </a:solidFill>
              </a:defRPr>
            </a:pPr>
            <a:r>
              <a:rPr sz="1013" b="0">
                <a:solidFill>
                  <a:srgbClr val="22252B"/>
                </a:solidFill>
              </a:rPr>
              <a:t>数字孪生城市与多智能体协同</a:t>
            </a:r>
          </a:p>
        </p:txBody>
      </p:sp>
      <p:sp>
        <p:nvSpPr>
          <p:cNvPr id="115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89E23E47-15CE-4CA1-9D2D-AE7F290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810750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767C8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252B"/>
                </a:solidFill>
              </a:defRPr>
            </a:pPr>
            <a:r>
              <a:rPr sz="1425" b="1">
                <a:solidFill>
                  <a:srgbClr val="22252B"/>
                </a:solidFill>
              </a:rPr>
              <a:t>城市建筑形态如何通过风场、热环境与污染物传播，进一步影响低空飞行安全、环境感知和应急巡检？</a:t>
            </a:r>
          </a:p>
        </p:txBody>
      </p:sp>
      <p:sp>
        <p:nvSpPr>
          <p:cNvPr id="116" name="legend">
            <a:extLst xmlns:a="http://schemas.openxmlformats.org/drawingml/2006/main">
              <a:ext uri="{FF2B5EF4-FFF2-40B4-BE49-F238E27FC236}">
                <a16:creationId xmlns:a16="http://schemas.microsoft.com/office/drawing/2014/main" id="{D8EC249F-C4DA-45EB-893D-A11E416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601200"/>
            <a:ext cx="2333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C6BC"/>
            </a:solidFill>
            <a:prstDash val="solid"/>
          </a:ln>
        </p:spPr>
      </p:sp>
      <p:sp>
        <p:nvSpPr>
          <p:cNvPr id="117" name="legend-solid">
            <a:extLst xmlns:a="http://schemas.openxmlformats.org/drawingml/2006/main">
              <a:ext uri="{FF2B5EF4-FFF2-40B4-BE49-F238E27FC236}">
                <a16:creationId xmlns:a16="http://schemas.microsoft.com/office/drawing/2014/main" id="{43685BFF-AE1A-48D8-8351-C8266002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975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52B"/>
                </a:solidFill>
              </a:defRPr>
            </a:pPr>
            <a:r>
              <a:rPr sz="1088" b="0">
                <a:solidFill>
                  <a:srgbClr val="22252B"/>
                </a:solidFill>
              </a:rPr>
              <a:t>━  实线＝已有经历或公开研究</a:t>
            </a:r>
          </a:p>
        </p:txBody>
      </p:sp>
      <p:sp>
        <p:nvSpPr>
          <p:cNvPr id="118" name="legend-dashed">
            <a:extLst xmlns:a="http://schemas.openxmlformats.org/drawingml/2006/main">
              <a:ext uri="{FF2B5EF4-FFF2-40B4-BE49-F238E27FC236}">
                <a16:creationId xmlns:a16="http://schemas.microsoft.com/office/drawing/2014/main" id="{FC903755-B03B-4E63-8E04-A45971A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1009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95448"/>
                </a:solidFill>
              </a:defRPr>
            </a:pPr>
            <a:r>
              <a:rPr sz="1088" b="0">
                <a:solidFill>
                  <a:srgbClr val="A95448"/>
                </a:solidFill>
              </a:rPr>
              <a:t>┄  虚线＝个人拟拓展兴趣</a:t>
            </a:r>
          </a:p>
        </p:txBody>
      </p:sp>
    </p:spTree>
    <p:extLst>
      <p:ext uri="{BB962C8B-B14F-4D97-AF65-F5344CB8AC3E}">
        <p14:creationId xmlns:p14="http://schemas.microsoft.com/office/powerpoint/2010/main" val="1928805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2026-08-18T13:50:38.2670000Z</dcterms:created>
  <dcterms:modified xsi:type="dcterms:W3CDTF">2026-08-18T13:50:38.2670000Z</dcterms:modified>
</coreProperties>
</file>